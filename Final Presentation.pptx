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 id="2147483750" r:id="rId2"/>
  </p:sldMasterIdLst>
  <p:sldIdLst>
    <p:sldId id="298" r:id="rId3"/>
    <p:sldId id="300" r:id="rId4"/>
    <p:sldId id="279" r:id="rId5"/>
    <p:sldId id="280" r:id="rId6"/>
    <p:sldId id="281" r:id="rId7"/>
    <p:sldId id="287" r:id="rId8"/>
    <p:sldId id="290" r:id="rId9"/>
    <p:sldId id="289" r:id="rId10"/>
    <p:sldId id="288" r:id="rId11"/>
    <p:sldId id="292" r:id="rId12"/>
    <p:sldId id="291" r:id="rId13"/>
    <p:sldId id="295" r:id="rId14"/>
    <p:sldId id="257" r:id="rId15"/>
    <p:sldId id="259" r:id="rId16"/>
    <p:sldId id="260" r:id="rId17"/>
    <p:sldId id="261" r:id="rId18"/>
    <p:sldId id="263" r:id="rId19"/>
    <p:sldId id="266" r:id="rId20"/>
    <p:sldId id="267" r:id="rId21"/>
    <p:sldId id="301" r:id="rId22"/>
    <p:sldId id="302" r:id="rId23"/>
    <p:sldId id="303" r:id="rId24"/>
    <p:sldId id="304" r:id="rId25"/>
    <p:sldId id="305" r:id="rId26"/>
    <p:sldId id="306" r:id="rId27"/>
    <p:sldId id="269" r:id="rId28"/>
    <p:sldId id="273" r:id="rId29"/>
    <p:sldId id="271" r:id="rId30"/>
    <p:sldId id="272" r:id="rId31"/>
    <p:sldId id="277" r:id="rId32"/>
    <p:sldId id="276" r:id="rId33"/>
    <p:sldId id="27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A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85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1T04:01:08.368"/>
    </inkml:context>
    <inkml:brush xml:id="br0">
      <inkml:brushProperty name="width" value="0.1" units="cm"/>
      <inkml:brushProperty name="height" value="0.1" units="cm"/>
      <inkml:brushProperty name="color" value="#E71224"/>
    </inkml:brush>
  </inkml:definitions>
  <inkml:trace contextRef="#ctx0" brushRef="#br0">1 0 24509,'0'1011'0,"3688"-1011"0,-3688-1011 0,-3688 1011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1T04:01:34.088"/>
    </inkml:context>
    <inkml:brush xml:id="br0">
      <inkml:brushProperty name="width" value="0.1" units="cm"/>
      <inkml:brushProperty name="height" value="0.1" units="cm"/>
      <inkml:brushProperty name="color" value="#E71224"/>
    </inkml:brush>
  </inkml:definitions>
  <inkml:trace contextRef="#ctx0" brushRef="#br0">0 0 24517,'0'1048'0,"1624"-1048"0,-1624-1048 0,-1624 1048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1T04:02:48.149"/>
    </inkml:context>
    <inkml:brush xml:id="br0">
      <inkml:brushProperty name="width" value="0.1" units="cm"/>
      <inkml:brushProperty name="height" value="0.1" units="cm"/>
      <inkml:brushProperty name="color" value="#E71224"/>
    </inkml:brush>
  </inkml:definitions>
  <inkml:trace contextRef="#ctx0" brushRef="#br0">1 1 24526,'0'3488'0,"11473"-3488"0,-11473-3488 0,-11473 3488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7430A-5908-5154-A7C4-1EB7FD2F4B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806D44C-9A9E-DF77-5E20-C1B183A2FF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7570628-78A8-41FE-EA6D-27D2634B3714}"/>
              </a:ext>
            </a:extLst>
          </p:cNvPr>
          <p:cNvSpPr>
            <a:spLocks noGrp="1"/>
          </p:cNvSpPr>
          <p:nvPr>
            <p:ph type="dt" sz="half" idx="10"/>
          </p:nvPr>
        </p:nvSpPr>
        <p:spPr/>
        <p:txBody>
          <a:bodyPr/>
          <a:lstStyle/>
          <a:p>
            <a:fld id="{AC52D425-A3B8-48D9-B376-DDC5E8694323}" type="datetimeFigureOut">
              <a:rPr lang="en-US" smtClean="0"/>
              <a:t>10/20/2025</a:t>
            </a:fld>
            <a:endParaRPr lang="en-US"/>
          </a:p>
        </p:txBody>
      </p:sp>
      <p:sp>
        <p:nvSpPr>
          <p:cNvPr id="5" name="Footer Placeholder 4">
            <a:extLst>
              <a:ext uri="{FF2B5EF4-FFF2-40B4-BE49-F238E27FC236}">
                <a16:creationId xmlns:a16="http://schemas.microsoft.com/office/drawing/2014/main" id="{9A4BDF5B-BBDF-40B3-9133-161408FB5B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5BF807-6BDF-04AE-3647-01B855C9FF1C}"/>
              </a:ext>
            </a:extLst>
          </p:cNvPr>
          <p:cNvSpPr>
            <a:spLocks noGrp="1"/>
          </p:cNvSpPr>
          <p:nvPr>
            <p:ph type="sldNum" sz="quarter" idx="12"/>
          </p:nvPr>
        </p:nvSpPr>
        <p:spPr/>
        <p:txBody>
          <a:bodyPr/>
          <a:lstStyle/>
          <a:p>
            <a:fld id="{53B329F1-C6F4-4967-8316-C6421984852F}" type="slidenum">
              <a:rPr lang="en-US" smtClean="0"/>
              <a:t>‹#›</a:t>
            </a:fld>
            <a:endParaRPr lang="en-US"/>
          </a:p>
        </p:txBody>
      </p:sp>
    </p:spTree>
    <p:extLst>
      <p:ext uri="{BB962C8B-B14F-4D97-AF65-F5344CB8AC3E}">
        <p14:creationId xmlns:p14="http://schemas.microsoft.com/office/powerpoint/2010/main" val="22898238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84D28-5BEE-7000-B04B-668DF25693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5CD876-911D-3F27-C42A-EB083C9940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49DE58-F8C1-99B4-78B4-9AB51865F112}"/>
              </a:ext>
            </a:extLst>
          </p:cNvPr>
          <p:cNvSpPr>
            <a:spLocks noGrp="1"/>
          </p:cNvSpPr>
          <p:nvPr>
            <p:ph type="dt" sz="half" idx="10"/>
          </p:nvPr>
        </p:nvSpPr>
        <p:spPr/>
        <p:txBody>
          <a:bodyPr/>
          <a:lstStyle/>
          <a:p>
            <a:fld id="{AC52D425-A3B8-48D9-B376-DDC5E8694323}" type="datetimeFigureOut">
              <a:rPr lang="en-US" smtClean="0"/>
              <a:t>10/20/2025</a:t>
            </a:fld>
            <a:endParaRPr lang="en-US"/>
          </a:p>
        </p:txBody>
      </p:sp>
      <p:sp>
        <p:nvSpPr>
          <p:cNvPr id="5" name="Footer Placeholder 4">
            <a:extLst>
              <a:ext uri="{FF2B5EF4-FFF2-40B4-BE49-F238E27FC236}">
                <a16:creationId xmlns:a16="http://schemas.microsoft.com/office/drawing/2014/main" id="{DCBB9066-E082-C6FA-6503-63CABBCFA9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AFE170-51CC-5F9D-B049-0791FCDBEBA7}"/>
              </a:ext>
            </a:extLst>
          </p:cNvPr>
          <p:cNvSpPr>
            <a:spLocks noGrp="1"/>
          </p:cNvSpPr>
          <p:nvPr>
            <p:ph type="sldNum" sz="quarter" idx="12"/>
          </p:nvPr>
        </p:nvSpPr>
        <p:spPr/>
        <p:txBody>
          <a:bodyPr/>
          <a:lstStyle/>
          <a:p>
            <a:fld id="{53B329F1-C6F4-4967-8316-C6421984852F}" type="slidenum">
              <a:rPr lang="en-US" smtClean="0"/>
              <a:t>‹#›</a:t>
            </a:fld>
            <a:endParaRPr lang="en-US"/>
          </a:p>
        </p:txBody>
      </p:sp>
    </p:spTree>
    <p:extLst>
      <p:ext uri="{BB962C8B-B14F-4D97-AF65-F5344CB8AC3E}">
        <p14:creationId xmlns:p14="http://schemas.microsoft.com/office/powerpoint/2010/main" val="6139746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30503-B360-D296-48B2-8F333F3E00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3AFD48F-F5C7-6BE5-F62C-C4A4AEE6FA1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CA58E4-F009-631A-F8F9-B2A5875D5CC8}"/>
              </a:ext>
            </a:extLst>
          </p:cNvPr>
          <p:cNvSpPr>
            <a:spLocks noGrp="1"/>
          </p:cNvSpPr>
          <p:nvPr>
            <p:ph type="dt" sz="half" idx="10"/>
          </p:nvPr>
        </p:nvSpPr>
        <p:spPr/>
        <p:txBody>
          <a:bodyPr/>
          <a:lstStyle/>
          <a:p>
            <a:fld id="{AC52D425-A3B8-48D9-B376-DDC5E8694323}" type="datetimeFigureOut">
              <a:rPr lang="en-US" smtClean="0"/>
              <a:t>10/20/2025</a:t>
            </a:fld>
            <a:endParaRPr lang="en-US"/>
          </a:p>
        </p:txBody>
      </p:sp>
      <p:sp>
        <p:nvSpPr>
          <p:cNvPr id="5" name="Footer Placeholder 4">
            <a:extLst>
              <a:ext uri="{FF2B5EF4-FFF2-40B4-BE49-F238E27FC236}">
                <a16:creationId xmlns:a16="http://schemas.microsoft.com/office/drawing/2014/main" id="{362B349D-0688-3BFA-428E-2FC16CC811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AE918E-BC05-C923-8C43-26D8896D4532}"/>
              </a:ext>
            </a:extLst>
          </p:cNvPr>
          <p:cNvSpPr>
            <a:spLocks noGrp="1"/>
          </p:cNvSpPr>
          <p:nvPr>
            <p:ph type="sldNum" sz="quarter" idx="12"/>
          </p:nvPr>
        </p:nvSpPr>
        <p:spPr/>
        <p:txBody>
          <a:bodyPr/>
          <a:lstStyle/>
          <a:p>
            <a:fld id="{53B329F1-C6F4-4967-8316-C6421984852F}" type="slidenum">
              <a:rPr lang="en-US" smtClean="0"/>
              <a:t>‹#›</a:t>
            </a:fld>
            <a:endParaRPr lang="en-US"/>
          </a:p>
        </p:txBody>
      </p:sp>
    </p:spTree>
    <p:extLst>
      <p:ext uri="{BB962C8B-B14F-4D97-AF65-F5344CB8AC3E}">
        <p14:creationId xmlns:p14="http://schemas.microsoft.com/office/powerpoint/2010/main" val="2596592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D77E5-C472-D8AF-272A-377F2B1FC8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ECBF2A0-4DAE-DDBA-3376-2A5012FF9C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C7EBE0E-A87B-7613-0F2F-0B9BD3822C6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56DEC17-3F68-7A68-998C-E4EB6BCB28BF}"/>
              </a:ext>
            </a:extLst>
          </p:cNvPr>
          <p:cNvSpPr>
            <a:spLocks noGrp="1"/>
          </p:cNvSpPr>
          <p:nvPr>
            <p:ph type="dt" sz="half" idx="10"/>
          </p:nvPr>
        </p:nvSpPr>
        <p:spPr/>
        <p:txBody>
          <a:bodyPr/>
          <a:lstStyle/>
          <a:p>
            <a:fld id="{AC52D425-A3B8-48D9-B376-DDC5E8694323}" type="datetimeFigureOut">
              <a:rPr lang="en-US" smtClean="0"/>
              <a:t>10/20/2025</a:t>
            </a:fld>
            <a:endParaRPr lang="en-US"/>
          </a:p>
        </p:txBody>
      </p:sp>
      <p:sp>
        <p:nvSpPr>
          <p:cNvPr id="6" name="Footer Placeholder 5">
            <a:extLst>
              <a:ext uri="{FF2B5EF4-FFF2-40B4-BE49-F238E27FC236}">
                <a16:creationId xmlns:a16="http://schemas.microsoft.com/office/drawing/2014/main" id="{F7BC45BE-83DC-0A70-6D2D-74A1F82394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DCDAE3-ACA0-798B-9E6C-3902DB02B558}"/>
              </a:ext>
            </a:extLst>
          </p:cNvPr>
          <p:cNvSpPr>
            <a:spLocks noGrp="1"/>
          </p:cNvSpPr>
          <p:nvPr>
            <p:ph type="sldNum" sz="quarter" idx="12"/>
          </p:nvPr>
        </p:nvSpPr>
        <p:spPr/>
        <p:txBody>
          <a:bodyPr/>
          <a:lstStyle/>
          <a:p>
            <a:fld id="{53B329F1-C6F4-4967-8316-C6421984852F}" type="slidenum">
              <a:rPr lang="en-US" smtClean="0"/>
              <a:t>‹#›</a:t>
            </a:fld>
            <a:endParaRPr lang="en-US"/>
          </a:p>
        </p:txBody>
      </p:sp>
    </p:spTree>
    <p:extLst>
      <p:ext uri="{BB962C8B-B14F-4D97-AF65-F5344CB8AC3E}">
        <p14:creationId xmlns:p14="http://schemas.microsoft.com/office/powerpoint/2010/main" val="3296315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E2EE5-2A5E-5E78-E06E-4B71A02EA3A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5F58552-7AA5-26BF-0DF2-E0CBC96DE0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1FA3CA-BA66-11A7-5DF7-C4639AF603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F46E78-5049-2314-D181-64793F43C0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CA4170-EC53-1FA8-CFB0-F0372D22622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3E036A0-12D9-4D36-D54B-FAF994A38E88}"/>
              </a:ext>
            </a:extLst>
          </p:cNvPr>
          <p:cNvSpPr>
            <a:spLocks noGrp="1"/>
          </p:cNvSpPr>
          <p:nvPr>
            <p:ph type="dt" sz="half" idx="10"/>
          </p:nvPr>
        </p:nvSpPr>
        <p:spPr/>
        <p:txBody>
          <a:bodyPr/>
          <a:lstStyle/>
          <a:p>
            <a:fld id="{AC52D425-A3B8-48D9-B376-DDC5E8694323}" type="datetimeFigureOut">
              <a:rPr lang="en-US" smtClean="0"/>
              <a:t>10/20/2025</a:t>
            </a:fld>
            <a:endParaRPr lang="en-US"/>
          </a:p>
        </p:txBody>
      </p:sp>
      <p:sp>
        <p:nvSpPr>
          <p:cNvPr id="8" name="Footer Placeholder 7">
            <a:extLst>
              <a:ext uri="{FF2B5EF4-FFF2-40B4-BE49-F238E27FC236}">
                <a16:creationId xmlns:a16="http://schemas.microsoft.com/office/drawing/2014/main" id="{877D63D3-9FA6-FBE5-46FC-1D5592A3F38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02C64B8-683B-5136-082B-AC9F4D9427A2}"/>
              </a:ext>
            </a:extLst>
          </p:cNvPr>
          <p:cNvSpPr>
            <a:spLocks noGrp="1"/>
          </p:cNvSpPr>
          <p:nvPr>
            <p:ph type="sldNum" sz="quarter" idx="12"/>
          </p:nvPr>
        </p:nvSpPr>
        <p:spPr/>
        <p:txBody>
          <a:bodyPr/>
          <a:lstStyle/>
          <a:p>
            <a:fld id="{53B329F1-C6F4-4967-8316-C6421984852F}" type="slidenum">
              <a:rPr lang="en-US" smtClean="0"/>
              <a:t>‹#›</a:t>
            </a:fld>
            <a:endParaRPr lang="en-US"/>
          </a:p>
        </p:txBody>
      </p:sp>
    </p:spTree>
    <p:extLst>
      <p:ext uri="{BB962C8B-B14F-4D97-AF65-F5344CB8AC3E}">
        <p14:creationId xmlns:p14="http://schemas.microsoft.com/office/powerpoint/2010/main" val="3346832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EDBA7-2382-A7FE-5094-2A05FFEFC0F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2E2B2E1-2131-4253-42FF-7426A61E505F}"/>
              </a:ext>
            </a:extLst>
          </p:cNvPr>
          <p:cNvSpPr>
            <a:spLocks noGrp="1"/>
          </p:cNvSpPr>
          <p:nvPr>
            <p:ph type="dt" sz="half" idx="10"/>
          </p:nvPr>
        </p:nvSpPr>
        <p:spPr/>
        <p:txBody>
          <a:bodyPr/>
          <a:lstStyle/>
          <a:p>
            <a:fld id="{AC52D425-A3B8-48D9-B376-DDC5E8694323}" type="datetimeFigureOut">
              <a:rPr lang="en-US" smtClean="0"/>
              <a:t>10/20/2025</a:t>
            </a:fld>
            <a:endParaRPr lang="en-US"/>
          </a:p>
        </p:txBody>
      </p:sp>
      <p:sp>
        <p:nvSpPr>
          <p:cNvPr id="4" name="Footer Placeholder 3">
            <a:extLst>
              <a:ext uri="{FF2B5EF4-FFF2-40B4-BE49-F238E27FC236}">
                <a16:creationId xmlns:a16="http://schemas.microsoft.com/office/drawing/2014/main" id="{6048A8DD-EC8A-0E27-1B83-4B3EB162D26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5AFFB19-F6DE-40AE-1A5F-3A09C6C2FACD}"/>
              </a:ext>
            </a:extLst>
          </p:cNvPr>
          <p:cNvSpPr>
            <a:spLocks noGrp="1"/>
          </p:cNvSpPr>
          <p:nvPr>
            <p:ph type="sldNum" sz="quarter" idx="12"/>
          </p:nvPr>
        </p:nvSpPr>
        <p:spPr/>
        <p:txBody>
          <a:bodyPr/>
          <a:lstStyle/>
          <a:p>
            <a:fld id="{53B329F1-C6F4-4967-8316-C6421984852F}" type="slidenum">
              <a:rPr lang="en-US" smtClean="0"/>
              <a:t>‹#›</a:t>
            </a:fld>
            <a:endParaRPr lang="en-US"/>
          </a:p>
        </p:txBody>
      </p:sp>
    </p:spTree>
    <p:extLst>
      <p:ext uri="{BB962C8B-B14F-4D97-AF65-F5344CB8AC3E}">
        <p14:creationId xmlns:p14="http://schemas.microsoft.com/office/powerpoint/2010/main" val="16417699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34E131-CC2D-0BF5-1DB6-8EFCD2B4BE8B}"/>
              </a:ext>
            </a:extLst>
          </p:cNvPr>
          <p:cNvSpPr>
            <a:spLocks noGrp="1"/>
          </p:cNvSpPr>
          <p:nvPr>
            <p:ph type="dt" sz="half" idx="10"/>
          </p:nvPr>
        </p:nvSpPr>
        <p:spPr/>
        <p:txBody>
          <a:bodyPr/>
          <a:lstStyle/>
          <a:p>
            <a:fld id="{AC52D425-A3B8-48D9-B376-DDC5E8694323}" type="datetimeFigureOut">
              <a:rPr lang="en-US" smtClean="0"/>
              <a:t>10/20/2025</a:t>
            </a:fld>
            <a:endParaRPr lang="en-US"/>
          </a:p>
        </p:txBody>
      </p:sp>
      <p:sp>
        <p:nvSpPr>
          <p:cNvPr id="3" name="Footer Placeholder 2">
            <a:extLst>
              <a:ext uri="{FF2B5EF4-FFF2-40B4-BE49-F238E27FC236}">
                <a16:creationId xmlns:a16="http://schemas.microsoft.com/office/drawing/2014/main" id="{6E8F6C9D-4413-DA69-10B5-C32F13A6AFA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B4909FF-C87F-1AF5-2B45-5EFE463C1DEC}"/>
              </a:ext>
            </a:extLst>
          </p:cNvPr>
          <p:cNvSpPr>
            <a:spLocks noGrp="1"/>
          </p:cNvSpPr>
          <p:nvPr>
            <p:ph type="sldNum" sz="quarter" idx="12"/>
          </p:nvPr>
        </p:nvSpPr>
        <p:spPr/>
        <p:txBody>
          <a:bodyPr/>
          <a:lstStyle/>
          <a:p>
            <a:fld id="{53B329F1-C6F4-4967-8316-C6421984852F}" type="slidenum">
              <a:rPr lang="en-US" smtClean="0"/>
              <a:t>‹#›</a:t>
            </a:fld>
            <a:endParaRPr lang="en-US"/>
          </a:p>
        </p:txBody>
      </p:sp>
    </p:spTree>
    <p:extLst>
      <p:ext uri="{BB962C8B-B14F-4D97-AF65-F5344CB8AC3E}">
        <p14:creationId xmlns:p14="http://schemas.microsoft.com/office/powerpoint/2010/main" val="28672968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C395C-A7C7-5AD0-0099-A5721CA3A6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54713A0-5CAA-338A-D82A-4B6A138C4D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77E7D79-E525-4151-EB0E-3F7B726136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65782E-CD40-712B-C430-D14FDDFC06FB}"/>
              </a:ext>
            </a:extLst>
          </p:cNvPr>
          <p:cNvSpPr>
            <a:spLocks noGrp="1"/>
          </p:cNvSpPr>
          <p:nvPr>
            <p:ph type="dt" sz="half" idx="10"/>
          </p:nvPr>
        </p:nvSpPr>
        <p:spPr/>
        <p:txBody>
          <a:bodyPr/>
          <a:lstStyle/>
          <a:p>
            <a:fld id="{AC52D425-A3B8-48D9-B376-DDC5E8694323}" type="datetimeFigureOut">
              <a:rPr lang="en-US" smtClean="0"/>
              <a:t>10/20/2025</a:t>
            </a:fld>
            <a:endParaRPr lang="en-US"/>
          </a:p>
        </p:txBody>
      </p:sp>
      <p:sp>
        <p:nvSpPr>
          <p:cNvPr id="6" name="Footer Placeholder 5">
            <a:extLst>
              <a:ext uri="{FF2B5EF4-FFF2-40B4-BE49-F238E27FC236}">
                <a16:creationId xmlns:a16="http://schemas.microsoft.com/office/drawing/2014/main" id="{12606351-58E4-8ECC-5BD3-F2F0CFAA91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D1A68B-969A-50BB-143D-B8D4EA457874}"/>
              </a:ext>
            </a:extLst>
          </p:cNvPr>
          <p:cNvSpPr>
            <a:spLocks noGrp="1"/>
          </p:cNvSpPr>
          <p:nvPr>
            <p:ph type="sldNum" sz="quarter" idx="12"/>
          </p:nvPr>
        </p:nvSpPr>
        <p:spPr/>
        <p:txBody>
          <a:bodyPr/>
          <a:lstStyle/>
          <a:p>
            <a:fld id="{53B329F1-C6F4-4967-8316-C6421984852F}" type="slidenum">
              <a:rPr lang="en-US" smtClean="0"/>
              <a:t>‹#›</a:t>
            </a:fld>
            <a:endParaRPr lang="en-US"/>
          </a:p>
        </p:txBody>
      </p:sp>
    </p:spTree>
    <p:extLst>
      <p:ext uri="{BB962C8B-B14F-4D97-AF65-F5344CB8AC3E}">
        <p14:creationId xmlns:p14="http://schemas.microsoft.com/office/powerpoint/2010/main" val="3945777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46092-BF4E-2C56-26AB-8407A73C5A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84FBF46-F1AE-970D-42EC-FCC46BA840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7F7D2BA-2D5C-E4A7-896E-040F273D3D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21F0F0-B1A3-B8AF-94CC-3B99DC9260DE}"/>
              </a:ext>
            </a:extLst>
          </p:cNvPr>
          <p:cNvSpPr>
            <a:spLocks noGrp="1"/>
          </p:cNvSpPr>
          <p:nvPr>
            <p:ph type="dt" sz="half" idx="10"/>
          </p:nvPr>
        </p:nvSpPr>
        <p:spPr/>
        <p:txBody>
          <a:bodyPr/>
          <a:lstStyle/>
          <a:p>
            <a:fld id="{AC52D425-A3B8-48D9-B376-DDC5E8694323}" type="datetimeFigureOut">
              <a:rPr lang="en-US" smtClean="0"/>
              <a:t>10/20/2025</a:t>
            </a:fld>
            <a:endParaRPr lang="en-US"/>
          </a:p>
        </p:txBody>
      </p:sp>
      <p:sp>
        <p:nvSpPr>
          <p:cNvPr id="6" name="Footer Placeholder 5">
            <a:extLst>
              <a:ext uri="{FF2B5EF4-FFF2-40B4-BE49-F238E27FC236}">
                <a16:creationId xmlns:a16="http://schemas.microsoft.com/office/drawing/2014/main" id="{D8CFF854-A6FB-4DF6-700E-83E22C2954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3369C6-C8DF-664E-FDFE-5B9A948B2871}"/>
              </a:ext>
            </a:extLst>
          </p:cNvPr>
          <p:cNvSpPr>
            <a:spLocks noGrp="1"/>
          </p:cNvSpPr>
          <p:nvPr>
            <p:ph type="sldNum" sz="quarter" idx="12"/>
          </p:nvPr>
        </p:nvSpPr>
        <p:spPr/>
        <p:txBody>
          <a:bodyPr/>
          <a:lstStyle/>
          <a:p>
            <a:fld id="{53B329F1-C6F4-4967-8316-C6421984852F}" type="slidenum">
              <a:rPr lang="en-US" smtClean="0"/>
              <a:t>‹#›</a:t>
            </a:fld>
            <a:endParaRPr lang="en-US"/>
          </a:p>
        </p:txBody>
      </p:sp>
    </p:spTree>
    <p:extLst>
      <p:ext uri="{BB962C8B-B14F-4D97-AF65-F5344CB8AC3E}">
        <p14:creationId xmlns:p14="http://schemas.microsoft.com/office/powerpoint/2010/main" val="832389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DB3C2-E9DF-E57F-59B7-04A3E5B5CA4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ACF5A95-0DF7-25C9-8108-746E9834468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42626B-88E7-2BC3-4F09-A3DCF72BEA47}"/>
              </a:ext>
            </a:extLst>
          </p:cNvPr>
          <p:cNvSpPr>
            <a:spLocks noGrp="1"/>
          </p:cNvSpPr>
          <p:nvPr>
            <p:ph type="dt" sz="half" idx="10"/>
          </p:nvPr>
        </p:nvSpPr>
        <p:spPr/>
        <p:txBody>
          <a:bodyPr/>
          <a:lstStyle/>
          <a:p>
            <a:fld id="{AC52D425-A3B8-48D9-B376-DDC5E8694323}" type="datetimeFigureOut">
              <a:rPr lang="en-US" smtClean="0"/>
              <a:t>10/20/2025</a:t>
            </a:fld>
            <a:endParaRPr lang="en-US"/>
          </a:p>
        </p:txBody>
      </p:sp>
      <p:sp>
        <p:nvSpPr>
          <p:cNvPr id="5" name="Footer Placeholder 4">
            <a:extLst>
              <a:ext uri="{FF2B5EF4-FFF2-40B4-BE49-F238E27FC236}">
                <a16:creationId xmlns:a16="http://schemas.microsoft.com/office/drawing/2014/main" id="{17C76D80-61F8-CF65-605E-17572C4D0A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B3C9CC-8C50-116A-FC7B-4F15B81B2BA0}"/>
              </a:ext>
            </a:extLst>
          </p:cNvPr>
          <p:cNvSpPr>
            <a:spLocks noGrp="1"/>
          </p:cNvSpPr>
          <p:nvPr>
            <p:ph type="sldNum" sz="quarter" idx="12"/>
          </p:nvPr>
        </p:nvSpPr>
        <p:spPr/>
        <p:txBody>
          <a:bodyPr/>
          <a:lstStyle/>
          <a:p>
            <a:fld id="{53B329F1-C6F4-4967-8316-C6421984852F}" type="slidenum">
              <a:rPr lang="en-US" smtClean="0"/>
              <a:t>‹#›</a:t>
            </a:fld>
            <a:endParaRPr lang="en-US"/>
          </a:p>
        </p:txBody>
      </p:sp>
    </p:spTree>
    <p:extLst>
      <p:ext uri="{BB962C8B-B14F-4D97-AF65-F5344CB8AC3E}">
        <p14:creationId xmlns:p14="http://schemas.microsoft.com/office/powerpoint/2010/main" val="11391793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7DBBD4-55DD-B9C1-38DA-C5D0FFCA821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D922EC5-57FB-AB22-B67A-F634133DF92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30714B-4CB8-AD4C-1E99-94109ECD938B}"/>
              </a:ext>
            </a:extLst>
          </p:cNvPr>
          <p:cNvSpPr>
            <a:spLocks noGrp="1"/>
          </p:cNvSpPr>
          <p:nvPr>
            <p:ph type="dt" sz="half" idx="10"/>
          </p:nvPr>
        </p:nvSpPr>
        <p:spPr/>
        <p:txBody>
          <a:bodyPr/>
          <a:lstStyle/>
          <a:p>
            <a:fld id="{AC52D425-A3B8-48D9-B376-DDC5E8694323}" type="datetimeFigureOut">
              <a:rPr lang="en-US" smtClean="0"/>
              <a:t>10/20/2025</a:t>
            </a:fld>
            <a:endParaRPr lang="en-US"/>
          </a:p>
        </p:txBody>
      </p:sp>
      <p:sp>
        <p:nvSpPr>
          <p:cNvPr id="5" name="Footer Placeholder 4">
            <a:extLst>
              <a:ext uri="{FF2B5EF4-FFF2-40B4-BE49-F238E27FC236}">
                <a16:creationId xmlns:a16="http://schemas.microsoft.com/office/drawing/2014/main" id="{97E4CF92-3C87-BDA4-9692-501A984508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9F0653-1361-15D6-5F9E-BE1D4A255014}"/>
              </a:ext>
            </a:extLst>
          </p:cNvPr>
          <p:cNvSpPr>
            <a:spLocks noGrp="1"/>
          </p:cNvSpPr>
          <p:nvPr>
            <p:ph type="sldNum" sz="quarter" idx="12"/>
          </p:nvPr>
        </p:nvSpPr>
        <p:spPr/>
        <p:txBody>
          <a:bodyPr/>
          <a:lstStyle/>
          <a:p>
            <a:fld id="{53B329F1-C6F4-4967-8316-C6421984852F}" type="slidenum">
              <a:rPr lang="en-US" smtClean="0"/>
              <a:t>‹#›</a:t>
            </a:fld>
            <a:endParaRPr lang="en-US"/>
          </a:p>
        </p:txBody>
      </p:sp>
    </p:spTree>
    <p:extLst>
      <p:ext uri="{BB962C8B-B14F-4D97-AF65-F5344CB8AC3E}">
        <p14:creationId xmlns:p14="http://schemas.microsoft.com/office/powerpoint/2010/main" val="20163114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026775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174482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946598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660383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992081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664832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800591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855628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651961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78936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574345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F82778-42B2-1DE4-3483-E9ACB8167F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16429D-6BA7-3D89-211A-421A193F9D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1A30D9-DC5F-310F-B32F-C86FD366A3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52D425-A3B8-48D9-B376-DDC5E8694323}" type="datetimeFigureOut">
              <a:rPr lang="en-US" smtClean="0"/>
              <a:t>10/20/2025</a:t>
            </a:fld>
            <a:endParaRPr lang="en-US"/>
          </a:p>
        </p:txBody>
      </p:sp>
      <p:sp>
        <p:nvSpPr>
          <p:cNvPr id="5" name="Footer Placeholder 4">
            <a:extLst>
              <a:ext uri="{FF2B5EF4-FFF2-40B4-BE49-F238E27FC236}">
                <a16:creationId xmlns:a16="http://schemas.microsoft.com/office/drawing/2014/main" id="{3E15E1FC-89E0-3498-23D9-AF93EE42C6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2E65342-205E-BC09-3BE0-9A3DAEAA17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B329F1-C6F4-4967-8316-C6421984852F}" type="slidenum">
              <a:rPr lang="en-US" smtClean="0"/>
              <a:t>‹#›</a:t>
            </a:fld>
            <a:endParaRPr lang="en-US"/>
          </a:p>
        </p:txBody>
      </p:sp>
    </p:spTree>
    <p:extLst>
      <p:ext uri="{BB962C8B-B14F-4D97-AF65-F5344CB8AC3E}">
        <p14:creationId xmlns:p14="http://schemas.microsoft.com/office/powerpoint/2010/main" val="3154634666"/>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10/20/2025</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953809309"/>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8.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18.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40.PNG"/><Relationship Id="rId3" Type="http://schemas.openxmlformats.org/officeDocument/2006/relationships/image" Target="../media/image22.PNG"/><Relationship Id="rId7" Type="http://schemas.openxmlformats.org/officeDocument/2006/relationships/customXml" Target="../ink/ink2.xml"/><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130.PNG"/><Relationship Id="rId5" Type="http://schemas.openxmlformats.org/officeDocument/2006/relationships/customXml" Target="../ink/ink1.xml"/><Relationship Id="rId10" Type="http://schemas.openxmlformats.org/officeDocument/2006/relationships/image" Target="../media/image150.PNG"/><Relationship Id="rId4" Type="http://schemas.openxmlformats.org/officeDocument/2006/relationships/image" Target="../media/image23.PNG"/><Relationship Id="rId9" Type="http://schemas.openxmlformats.org/officeDocument/2006/relationships/customXml" Target="../ink/ink3.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lookerstudio.google.com/reporting/f8fc3b2e-5ea5-41af-8a84-c1d297b48e56"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8508"/>
        </a:solidFill>
        <a:effectLst/>
      </p:bgPr>
    </p:bg>
    <p:spTree>
      <p:nvGrpSpPr>
        <p:cNvPr id="1" name=""/>
        <p:cNvGrpSpPr/>
        <p:nvPr/>
      </p:nvGrpSpPr>
      <p:grpSpPr>
        <a:xfrm>
          <a:off x="0" y="0"/>
          <a:ext cx="0" cy="0"/>
          <a:chOff x="0" y="0"/>
          <a:chExt cx="0" cy="0"/>
        </a:xfrm>
      </p:grpSpPr>
      <p:grpSp>
        <p:nvGrpSpPr>
          <p:cNvPr id="2" name="Group 2"/>
          <p:cNvGrpSpPr/>
          <p:nvPr/>
        </p:nvGrpSpPr>
        <p:grpSpPr>
          <a:xfrm>
            <a:off x="4726937" y="5630477"/>
            <a:ext cx="513841" cy="51384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pPr defTabSz="609630"/>
              <a:endParaRPr lang="LID4096" sz="1200">
                <a:solidFill>
                  <a:prstClr val="black"/>
                </a:solidFill>
                <a:latin typeface="Calibri"/>
              </a:endParaRPr>
            </a:p>
          </p:txBody>
        </p:sp>
        <p:sp>
          <p:nvSpPr>
            <p:cNvPr id="4" name="TextBox 4"/>
            <p:cNvSpPr txBox="1"/>
            <p:nvPr/>
          </p:nvSpPr>
          <p:spPr>
            <a:xfrm>
              <a:off x="76200" y="38100"/>
              <a:ext cx="660400" cy="698500"/>
            </a:xfrm>
            <a:prstGeom prst="rect">
              <a:avLst/>
            </a:prstGeom>
          </p:spPr>
          <p:txBody>
            <a:bodyPr lIns="33867" tIns="33867" rIns="33867" bIns="33867" rtlCol="0" anchor="ctr"/>
            <a:lstStyle/>
            <a:p>
              <a:pPr algn="ctr" defTabSz="609630">
                <a:lnSpc>
                  <a:spcPts val="1570"/>
                </a:lnSpc>
              </a:pPr>
              <a:endParaRPr sz="1200">
                <a:solidFill>
                  <a:prstClr val="black"/>
                </a:solidFill>
                <a:latin typeface="Calibri"/>
              </a:endParaRPr>
            </a:p>
          </p:txBody>
        </p:sp>
      </p:grpSp>
      <p:sp>
        <p:nvSpPr>
          <p:cNvPr id="5" name="TextBox 5"/>
          <p:cNvSpPr txBox="1"/>
          <p:nvPr/>
        </p:nvSpPr>
        <p:spPr>
          <a:xfrm>
            <a:off x="245462" y="2345212"/>
            <a:ext cx="11701077" cy="1795363"/>
          </a:xfrm>
          <a:prstGeom prst="rect">
            <a:avLst/>
          </a:prstGeom>
        </p:spPr>
        <p:txBody>
          <a:bodyPr lIns="0" tIns="0" rIns="0" bIns="0" rtlCol="0" anchor="t">
            <a:spAutoFit/>
          </a:bodyPr>
          <a:lstStyle/>
          <a:p>
            <a:pPr defTabSz="609630">
              <a:lnSpc>
                <a:spcPts val="3500"/>
              </a:lnSpc>
            </a:pPr>
            <a:r>
              <a:rPr lang="en-US" sz="3000" b="1" dirty="0">
                <a:solidFill>
                  <a:schemeClr val="bg1"/>
                </a:solidFill>
                <a:latin typeface="Bricolage Grotesque Bold"/>
                <a:ea typeface="Bricolage Grotesque Bold"/>
                <a:cs typeface="Bricolage Grotesque Bold"/>
                <a:sym typeface="Bricolage Grotesque Bold"/>
              </a:rPr>
              <a:t>Data Visualization Associate Early Internship Final Presentation</a:t>
            </a:r>
          </a:p>
          <a:p>
            <a:pPr defTabSz="609630">
              <a:lnSpc>
                <a:spcPts val="3500"/>
              </a:lnSpc>
            </a:pPr>
            <a:r>
              <a:rPr lang="en-US" sz="3200" b="1" dirty="0">
                <a:solidFill>
                  <a:schemeClr val="bg1"/>
                </a:solidFill>
              </a:rPr>
              <a:t>From: Team 24</a:t>
            </a:r>
            <a:endParaRPr lang="en-US" sz="3000" b="1" dirty="0">
              <a:solidFill>
                <a:schemeClr val="bg1"/>
              </a:solidFill>
              <a:latin typeface="Bricolage Grotesque Bold"/>
              <a:ea typeface="Bricolage Grotesque Bold"/>
              <a:cs typeface="Bricolage Grotesque Bold"/>
              <a:sym typeface="Bricolage Grotesque Bold"/>
            </a:endParaRPr>
          </a:p>
          <a:p>
            <a:pPr defTabSz="609630">
              <a:lnSpc>
                <a:spcPts val="3500"/>
              </a:lnSpc>
            </a:pPr>
            <a:r>
              <a:rPr lang="en-US" sz="3000" b="1" dirty="0">
                <a:solidFill>
                  <a:schemeClr val="bg1"/>
                </a:solidFill>
                <a:latin typeface="Bricolage Grotesque Bold"/>
                <a:ea typeface="Bricolage Grotesque Bold"/>
                <a:cs typeface="Bricolage Grotesque Bold"/>
                <a:sym typeface="Bricolage Grotesque Bold"/>
              </a:rPr>
              <a:t>To Our Sponsor: </a:t>
            </a:r>
            <a:r>
              <a:rPr lang="en-US" sz="3000" b="1" dirty="0" err="1">
                <a:solidFill>
                  <a:schemeClr val="bg1"/>
                </a:solidFill>
                <a:latin typeface="Bricolage Grotesque Bold"/>
                <a:ea typeface="Bricolage Grotesque Bold"/>
                <a:cs typeface="Bricolage Grotesque Bold"/>
                <a:sym typeface="Bricolage Grotesque Bold"/>
              </a:rPr>
              <a:t>Excelerate</a:t>
            </a:r>
            <a:r>
              <a:rPr lang="en-US" sz="3000" b="1" dirty="0">
                <a:solidFill>
                  <a:schemeClr val="bg1"/>
                </a:solidFill>
                <a:latin typeface="Bricolage Grotesque Bold"/>
                <a:ea typeface="Bricolage Grotesque Bold"/>
                <a:cs typeface="Bricolage Grotesque Bold"/>
                <a:sym typeface="Bricolage Grotesque Bold"/>
              </a:rPr>
              <a:t> Team</a:t>
            </a:r>
          </a:p>
          <a:p>
            <a:pPr defTabSz="609630">
              <a:lnSpc>
                <a:spcPts val="3500"/>
              </a:lnSpc>
            </a:pPr>
            <a:r>
              <a:rPr lang="en-US" sz="3000" b="1" dirty="0">
                <a:solidFill>
                  <a:schemeClr val="bg1"/>
                </a:solidFill>
                <a:latin typeface="Bricolage Grotesque Bold"/>
                <a:ea typeface="Bricolage Grotesque Bold"/>
                <a:cs typeface="Bricolage Grotesque Bold"/>
                <a:sym typeface="Bricolage Grotesque Bold"/>
              </a:rPr>
              <a:t>Date Of Submission: 29-Sep-2025</a:t>
            </a:r>
          </a:p>
        </p:txBody>
      </p:sp>
      <p:sp>
        <p:nvSpPr>
          <p:cNvPr id="6" name="Freeform 6"/>
          <p:cNvSpPr/>
          <p:nvPr/>
        </p:nvSpPr>
        <p:spPr>
          <a:xfrm rot="4326401">
            <a:off x="1730924" y="-1829026"/>
            <a:ext cx="8730153" cy="9993060"/>
          </a:xfrm>
          <a:custGeom>
            <a:avLst/>
            <a:gdLst/>
            <a:ahLst/>
            <a:cxnLst/>
            <a:rect l="l" t="t" r="r" b="b"/>
            <a:pathLst>
              <a:path w="14975430" h="12945611">
                <a:moveTo>
                  <a:pt x="0" y="0"/>
                </a:moveTo>
                <a:lnTo>
                  <a:pt x="14975430" y="0"/>
                </a:lnTo>
                <a:lnTo>
                  <a:pt x="14975430" y="12945611"/>
                </a:lnTo>
                <a:lnTo>
                  <a:pt x="0" y="12945611"/>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txBody>
          <a:bodyPr/>
          <a:lstStyle/>
          <a:p>
            <a:pPr defTabSz="609630"/>
            <a:endParaRPr lang="LID4096" sz="1200">
              <a:solidFill>
                <a:prstClr val="black"/>
              </a:solidFill>
              <a:latin typeface="Calibri"/>
            </a:endParaRPr>
          </a:p>
        </p:txBody>
      </p:sp>
      <p:grpSp>
        <p:nvGrpSpPr>
          <p:cNvPr id="7" name="Group 7"/>
          <p:cNvGrpSpPr/>
          <p:nvPr/>
        </p:nvGrpSpPr>
        <p:grpSpPr>
          <a:xfrm rot="-1187103">
            <a:off x="9459817" y="3506634"/>
            <a:ext cx="555597" cy="555597"/>
            <a:chOff x="0" y="0"/>
            <a:chExt cx="812800" cy="812800"/>
          </a:xfrm>
        </p:grpSpPr>
        <p:sp>
          <p:nvSpPr>
            <p:cNvPr id="8" name="Freeform 8"/>
            <p:cNvSpPr/>
            <p:nvPr/>
          </p:nvSpPr>
          <p:spPr>
            <a:xfrm>
              <a:off x="59160" y="59160"/>
              <a:ext cx="694479" cy="694479"/>
            </a:xfrm>
            <a:custGeom>
              <a:avLst/>
              <a:gdLst/>
              <a:ahLst/>
              <a:cxnLst/>
              <a:rect l="l" t="t" r="r" b="b"/>
              <a:pathLst>
                <a:path w="694479" h="694479">
                  <a:moveTo>
                    <a:pt x="386527" y="25020"/>
                  </a:moveTo>
                  <a:lnTo>
                    <a:pt x="437269" y="133745"/>
                  </a:lnTo>
                  <a:cubicBezTo>
                    <a:pt x="462647" y="188123"/>
                    <a:pt x="506357" y="231833"/>
                    <a:pt x="560735" y="257211"/>
                  </a:cubicBezTo>
                  <a:lnTo>
                    <a:pt x="669460" y="307953"/>
                  </a:lnTo>
                  <a:cubicBezTo>
                    <a:pt x="684724" y="315077"/>
                    <a:pt x="694480" y="330396"/>
                    <a:pt x="694480" y="347240"/>
                  </a:cubicBezTo>
                  <a:cubicBezTo>
                    <a:pt x="694480" y="364084"/>
                    <a:pt x="684724" y="379403"/>
                    <a:pt x="669460" y="386527"/>
                  </a:cubicBezTo>
                  <a:lnTo>
                    <a:pt x="560735" y="437269"/>
                  </a:lnTo>
                  <a:cubicBezTo>
                    <a:pt x="506357" y="462647"/>
                    <a:pt x="462647" y="506357"/>
                    <a:pt x="437269" y="560735"/>
                  </a:cubicBezTo>
                  <a:lnTo>
                    <a:pt x="386527" y="669460"/>
                  </a:lnTo>
                  <a:cubicBezTo>
                    <a:pt x="379403" y="684724"/>
                    <a:pt x="364084" y="694480"/>
                    <a:pt x="347240" y="694480"/>
                  </a:cubicBezTo>
                  <a:cubicBezTo>
                    <a:pt x="330396" y="694480"/>
                    <a:pt x="315077" y="684724"/>
                    <a:pt x="307953" y="669460"/>
                  </a:cubicBezTo>
                  <a:lnTo>
                    <a:pt x="257211" y="560735"/>
                  </a:lnTo>
                  <a:cubicBezTo>
                    <a:pt x="231833" y="506357"/>
                    <a:pt x="188123" y="462647"/>
                    <a:pt x="133745" y="437269"/>
                  </a:cubicBezTo>
                  <a:lnTo>
                    <a:pt x="25020" y="386527"/>
                  </a:lnTo>
                  <a:cubicBezTo>
                    <a:pt x="9756" y="379403"/>
                    <a:pt x="0" y="364084"/>
                    <a:pt x="0" y="347240"/>
                  </a:cubicBezTo>
                  <a:cubicBezTo>
                    <a:pt x="0" y="330396"/>
                    <a:pt x="9756" y="315077"/>
                    <a:pt x="25020" y="307953"/>
                  </a:cubicBezTo>
                  <a:lnTo>
                    <a:pt x="133745" y="257211"/>
                  </a:lnTo>
                  <a:cubicBezTo>
                    <a:pt x="188123" y="231833"/>
                    <a:pt x="231833" y="188123"/>
                    <a:pt x="257211" y="133745"/>
                  </a:cubicBezTo>
                  <a:lnTo>
                    <a:pt x="307953" y="25020"/>
                  </a:lnTo>
                  <a:cubicBezTo>
                    <a:pt x="315077" y="9756"/>
                    <a:pt x="330396" y="0"/>
                    <a:pt x="347240" y="0"/>
                  </a:cubicBezTo>
                  <a:cubicBezTo>
                    <a:pt x="364084" y="0"/>
                    <a:pt x="379403" y="9756"/>
                    <a:pt x="386527" y="25020"/>
                  </a:cubicBezTo>
                  <a:close/>
                </a:path>
              </a:pathLst>
            </a:custGeom>
            <a:solidFill>
              <a:srgbClr val="FFFFFF"/>
            </a:solidFill>
          </p:spPr>
          <p:txBody>
            <a:bodyPr/>
            <a:lstStyle/>
            <a:p>
              <a:pPr defTabSz="609630"/>
              <a:endParaRPr lang="LID4096" sz="1200">
                <a:solidFill>
                  <a:prstClr val="black"/>
                </a:solidFill>
                <a:latin typeface="Calibri"/>
              </a:endParaRPr>
            </a:p>
          </p:txBody>
        </p:sp>
        <p:sp>
          <p:nvSpPr>
            <p:cNvPr id="9" name="TextBox 9"/>
            <p:cNvSpPr txBox="1"/>
            <p:nvPr/>
          </p:nvSpPr>
          <p:spPr>
            <a:xfrm>
              <a:off x="190500" y="152400"/>
              <a:ext cx="431800" cy="469900"/>
            </a:xfrm>
            <a:prstGeom prst="rect">
              <a:avLst/>
            </a:prstGeom>
          </p:spPr>
          <p:txBody>
            <a:bodyPr lIns="33867" tIns="33867" rIns="33867" bIns="33867" rtlCol="0" anchor="ctr"/>
            <a:lstStyle/>
            <a:p>
              <a:pPr algn="ctr" defTabSz="609630">
                <a:lnSpc>
                  <a:spcPts val="1820"/>
                </a:lnSpc>
              </a:pPr>
              <a:endParaRPr sz="1200">
                <a:solidFill>
                  <a:prstClr val="black"/>
                </a:solidFill>
                <a:latin typeface="Calibri"/>
              </a:endParaRPr>
            </a:p>
          </p:txBody>
        </p:sp>
      </p:grpSp>
      <p:sp>
        <p:nvSpPr>
          <p:cNvPr id="10" name="Freeform 10"/>
          <p:cNvSpPr/>
          <p:nvPr/>
        </p:nvSpPr>
        <p:spPr>
          <a:xfrm>
            <a:off x="4871731" y="5786281"/>
            <a:ext cx="224251" cy="202233"/>
          </a:xfrm>
          <a:custGeom>
            <a:avLst/>
            <a:gdLst/>
            <a:ahLst/>
            <a:cxnLst/>
            <a:rect l="l" t="t" r="r" b="b"/>
            <a:pathLst>
              <a:path w="336376" h="303350">
                <a:moveTo>
                  <a:pt x="0" y="0"/>
                </a:moveTo>
                <a:lnTo>
                  <a:pt x="336376" y="0"/>
                </a:lnTo>
                <a:lnTo>
                  <a:pt x="336376" y="303350"/>
                </a:lnTo>
                <a:lnTo>
                  <a:pt x="0" y="3033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pPr defTabSz="609630"/>
            <a:endParaRPr lang="LID4096" sz="1200">
              <a:solidFill>
                <a:prstClr val="black"/>
              </a:solidFill>
              <a:latin typeface="Calibri"/>
            </a:endParaRPr>
          </a:p>
        </p:txBody>
      </p:sp>
      <p:grpSp>
        <p:nvGrpSpPr>
          <p:cNvPr id="11" name="Group 11"/>
          <p:cNvGrpSpPr/>
          <p:nvPr/>
        </p:nvGrpSpPr>
        <p:grpSpPr>
          <a:xfrm>
            <a:off x="474470" y="530866"/>
            <a:ext cx="60774" cy="60774"/>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pPr defTabSz="609630"/>
              <a:endParaRPr lang="LID4096" sz="1200">
                <a:solidFill>
                  <a:prstClr val="black"/>
                </a:solidFill>
                <a:latin typeface="Calibri"/>
              </a:endParaRPr>
            </a:p>
          </p:txBody>
        </p:sp>
        <p:sp>
          <p:nvSpPr>
            <p:cNvPr id="13" name="TextBox 13"/>
            <p:cNvSpPr txBox="1"/>
            <p:nvPr/>
          </p:nvSpPr>
          <p:spPr>
            <a:xfrm>
              <a:off x="76200" y="38100"/>
              <a:ext cx="660400" cy="698500"/>
            </a:xfrm>
            <a:prstGeom prst="rect">
              <a:avLst/>
            </a:prstGeom>
          </p:spPr>
          <p:txBody>
            <a:bodyPr lIns="33867" tIns="33867" rIns="33867" bIns="33867" rtlCol="0" anchor="ctr"/>
            <a:lstStyle/>
            <a:p>
              <a:pPr algn="ctr" defTabSz="609630">
                <a:lnSpc>
                  <a:spcPts val="1570"/>
                </a:lnSpc>
              </a:pPr>
              <a:endParaRPr sz="1200">
                <a:solidFill>
                  <a:prstClr val="black"/>
                </a:solidFill>
                <a:latin typeface="Calibri"/>
              </a:endParaRPr>
            </a:p>
          </p:txBody>
        </p:sp>
      </p:grpSp>
      <p:sp>
        <p:nvSpPr>
          <p:cNvPr id="15" name="TextBox 15"/>
          <p:cNvSpPr txBox="1"/>
          <p:nvPr/>
        </p:nvSpPr>
        <p:spPr>
          <a:xfrm>
            <a:off x="576069" y="457325"/>
            <a:ext cx="770180" cy="175433"/>
          </a:xfrm>
          <a:prstGeom prst="rect">
            <a:avLst/>
          </a:prstGeom>
        </p:spPr>
        <p:txBody>
          <a:bodyPr lIns="0" tIns="0" rIns="0" bIns="0" rtlCol="0" anchor="t">
            <a:spAutoFit/>
          </a:bodyPr>
          <a:lstStyle/>
          <a:p>
            <a:pPr algn="just" defTabSz="609630">
              <a:lnSpc>
                <a:spcPts val="1493"/>
              </a:lnSpc>
            </a:pPr>
            <a:r>
              <a:rPr lang="en-US" sz="1066" b="1">
                <a:solidFill>
                  <a:srgbClr val="FFFFFF"/>
                </a:solidFill>
                <a:latin typeface="Bricolage Grotesque Bold"/>
                <a:ea typeface="Bricolage Grotesque Bold"/>
                <a:cs typeface="Bricolage Grotesque Bold"/>
                <a:sym typeface="Bricolage Grotesque Bold"/>
              </a:rPr>
              <a:t>Excelerate</a:t>
            </a:r>
          </a:p>
        </p:txBody>
      </p:sp>
      <p:sp>
        <p:nvSpPr>
          <p:cNvPr id="16" name="TextBox 16"/>
          <p:cNvSpPr txBox="1"/>
          <p:nvPr/>
        </p:nvSpPr>
        <p:spPr>
          <a:xfrm>
            <a:off x="8567570" y="5587211"/>
            <a:ext cx="3149961" cy="934230"/>
          </a:xfrm>
          <a:prstGeom prst="rect">
            <a:avLst/>
          </a:prstGeom>
        </p:spPr>
        <p:txBody>
          <a:bodyPr lIns="0" tIns="0" rIns="0" bIns="0" rtlCol="0" anchor="t">
            <a:spAutoFit/>
          </a:bodyPr>
          <a:lstStyle/>
          <a:p>
            <a:pPr algn="r" defTabSz="609630">
              <a:lnSpc>
                <a:spcPts val="2519"/>
              </a:lnSpc>
            </a:pPr>
            <a:r>
              <a:rPr lang="en-US" sz="1799" b="1">
                <a:solidFill>
                  <a:srgbClr val="FFB65F"/>
                </a:solidFill>
                <a:latin typeface="Bricolage Grotesque Bold"/>
                <a:ea typeface="Bricolage Grotesque Bold"/>
                <a:cs typeface="Bricolage Grotesque Bold"/>
                <a:sym typeface="Bricolage Grotesque Bold"/>
              </a:rPr>
              <a:t>WEEK 4 Deliverables</a:t>
            </a:r>
          </a:p>
          <a:p>
            <a:pPr algn="r" defTabSz="609630">
              <a:lnSpc>
                <a:spcPts val="2519"/>
              </a:lnSpc>
            </a:pPr>
            <a:r>
              <a:rPr lang="en-US" sz="1799" b="1">
                <a:solidFill>
                  <a:srgbClr val="FFB65F"/>
                </a:solidFill>
                <a:latin typeface="Bricolage Grotesque Bold"/>
                <a:ea typeface="Bricolage Grotesque Bold"/>
                <a:cs typeface="Bricolage Grotesque Bold"/>
                <a:sym typeface="Bricolage Grotesque Bold"/>
              </a:rPr>
              <a:t>From: Team 24</a:t>
            </a:r>
          </a:p>
          <a:p>
            <a:pPr algn="r" defTabSz="609630">
              <a:lnSpc>
                <a:spcPts val="2519"/>
              </a:lnSpc>
            </a:pPr>
            <a:endParaRPr lang="en-US" sz="1799" b="1">
              <a:solidFill>
                <a:srgbClr val="FFB65F"/>
              </a:solidFill>
              <a:latin typeface="Bricolage Grotesque Bold"/>
              <a:ea typeface="Bricolage Grotesque Bold"/>
              <a:cs typeface="Bricolage Grotesque Bold"/>
              <a:sym typeface="Bricolage Grotesque Bold"/>
            </a:endParaRPr>
          </a:p>
        </p:txBody>
      </p:sp>
      <p:pic>
        <p:nvPicPr>
          <p:cNvPr id="19" name="Picture 18">
            <a:extLst>
              <a:ext uri="{FF2B5EF4-FFF2-40B4-BE49-F238E27FC236}">
                <a16:creationId xmlns:a16="http://schemas.microsoft.com/office/drawing/2014/main" id="{50DF7B53-3470-F0D9-FC1E-244CA428D8D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76167" y="5264735"/>
            <a:ext cx="2397760" cy="125882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870835" y="18298"/>
            <a:ext cx="6092487" cy="6174627"/>
          </a:xfrm>
          <a:custGeom>
            <a:avLst/>
            <a:gdLst/>
            <a:ahLst/>
            <a:cxnLst/>
            <a:rect l="l" t="t" r="r" b="b"/>
            <a:pathLst>
              <a:path w="9138730" h="9261941">
                <a:moveTo>
                  <a:pt x="0" y="0"/>
                </a:moveTo>
                <a:lnTo>
                  <a:pt x="9138730" y="0"/>
                </a:lnTo>
                <a:lnTo>
                  <a:pt x="9138730" y="9261941"/>
                </a:lnTo>
                <a:lnTo>
                  <a:pt x="0" y="9261941"/>
                </a:lnTo>
                <a:lnTo>
                  <a:pt x="0" y="0"/>
                </a:lnTo>
                <a:close/>
              </a:path>
            </a:pathLst>
          </a:custGeom>
          <a:blipFill>
            <a:blip r:embed="rId2">
              <a:alphaModFix amt="35000"/>
              <a:extLst>
                <a:ext uri="{96DAC541-7B7A-43D3-8B79-37D633B846F1}">
                  <asvg:svgBlip xmlns:asvg="http://schemas.microsoft.com/office/drawing/2016/SVG/main" r:embed="rId3"/>
                </a:ext>
              </a:extLst>
            </a:blip>
            <a:stretch>
              <a:fillRect/>
            </a:stretch>
          </a:blipFill>
        </p:spPr>
        <p:txBody>
          <a:bodyPr/>
          <a:lstStyle/>
          <a:p>
            <a:endParaRPr lang="LID4096" sz="1200"/>
          </a:p>
        </p:txBody>
      </p:sp>
      <p:grpSp>
        <p:nvGrpSpPr>
          <p:cNvPr id="3" name="Group 3"/>
          <p:cNvGrpSpPr/>
          <p:nvPr/>
        </p:nvGrpSpPr>
        <p:grpSpPr>
          <a:xfrm rot="2292366">
            <a:off x="6022888" y="712570"/>
            <a:ext cx="360086" cy="360086"/>
            <a:chOff x="0" y="0"/>
            <a:chExt cx="812800" cy="812800"/>
          </a:xfrm>
        </p:grpSpPr>
        <p:sp>
          <p:nvSpPr>
            <p:cNvPr id="4" name="Freeform 4"/>
            <p:cNvSpPr/>
            <p:nvPr/>
          </p:nvSpPr>
          <p:spPr>
            <a:xfrm>
              <a:off x="63897" y="63897"/>
              <a:ext cx="685005" cy="685005"/>
            </a:xfrm>
            <a:custGeom>
              <a:avLst/>
              <a:gdLst/>
              <a:ahLst/>
              <a:cxnLst/>
              <a:rect l="l" t="t" r="r" b="b"/>
              <a:pathLst>
                <a:path w="685005" h="685005">
                  <a:moveTo>
                    <a:pt x="384935" y="27023"/>
                  </a:moveTo>
                  <a:lnTo>
                    <a:pt x="429386" y="122268"/>
                  </a:lnTo>
                  <a:cubicBezTo>
                    <a:pt x="456796" y="181000"/>
                    <a:pt x="504006" y="228210"/>
                    <a:pt x="562738" y="255620"/>
                  </a:cubicBezTo>
                  <a:lnTo>
                    <a:pt x="657983" y="300071"/>
                  </a:lnTo>
                  <a:cubicBezTo>
                    <a:pt x="674468" y="307764"/>
                    <a:pt x="685006" y="324310"/>
                    <a:pt x="685006" y="342503"/>
                  </a:cubicBezTo>
                  <a:cubicBezTo>
                    <a:pt x="685006" y="360696"/>
                    <a:pt x="674468" y="377242"/>
                    <a:pt x="657983" y="384935"/>
                  </a:cubicBezTo>
                  <a:lnTo>
                    <a:pt x="562738" y="429386"/>
                  </a:lnTo>
                  <a:cubicBezTo>
                    <a:pt x="504006" y="456796"/>
                    <a:pt x="456796" y="504006"/>
                    <a:pt x="429386" y="562738"/>
                  </a:cubicBezTo>
                  <a:lnTo>
                    <a:pt x="384935" y="657983"/>
                  </a:lnTo>
                  <a:cubicBezTo>
                    <a:pt x="377242" y="674468"/>
                    <a:pt x="360696" y="685006"/>
                    <a:pt x="342503" y="685006"/>
                  </a:cubicBezTo>
                  <a:cubicBezTo>
                    <a:pt x="324310" y="685006"/>
                    <a:pt x="307764" y="674468"/>
                    <a:pt x="300071" y="657983"/>
                  </a:cubicBezTo>
                  <a:lnTo>
                    <a:pt x="255620" y="562738"/>
                  </a:lnTo>
                  <a:cubicBezTo>
                    <a:pt x="228210" y="504006"/>
                    <a:pt x="181000" y="456796"/>
                    <a:pt x="122268" y="429386"/>
                  </a:cubicBezTo>
                  <a:lnTo>
                    <a:pt x="27023" y="384935"/>
                  </a:lnTo>
                  <a:cubicBezTo>
                    <a:pt x="10538" y="377242"/>
                    <a:pt x="0" y="360696"/>
                    <a:pt x="0" y="342503"/>
                  </a:cubicBezTo>
                  <a:cubicBezTo>
                    <a:pt x="0" y="324310"/>
                    <a:pt x="10538" y="307764"/>
                    <a:pt x="27023" y="300071"/>
                  </a:cubicBezTo>
                  <a:lnTo>
                    <a:pt x="122268" y="255620"/>
                  </a:lnTo>
                  <a:cubicBezTo>
                    <a:pt x="181000" y="228210"/>
                    <a:pt x="228210" y="181000"/>
                    <a:pt x="255620" y="122268"/>
                  </a:cubicBezTo>
                  <a:lnTo>
                    <a:pt x="300071" y="27023"/>
                  </a:lnTo>
                  <a:cubicBezTo>
                    <a:pt x="307764" y="10538"/>
                    <a:pt x="324310" y="0"/>
                    <a:pt x="342503" y="0"/>
                  </a:cubicBezTo>
                  <a:cubicBezTo>
                    <a:pt x="360696" y="0"/>
                    <a:pt x="377242" y="10538"/>
                    <a:pt x="384935" y="27023"/>
                  </a:cubicBezTo>
                  <a:close/>
                </a:path>
              </a:pathLst>
            </a:custGeom>
            <a:solidFill>
              <a:srgbClr val="EF8508"/>
            </a:solidFill>
          </p:spPr>
          <p:txBody>
            <a:bodyPr/>
            <a:lstStyle/>
            <a:p>
              <a:endParaRPr lang="LID4096" sz="1200"/>
            </a:p>
          </p:txBody>
        </p:sp>
        <p:sp>
          <p:nvSpPr>
            <p:cNvPr id="5" name="TextBox 5"/>
            <p:cNvSpPr txBox="1"/>
            <p:nvPr/>
          </p:nvSpPr>
          <p:spPr>
            <a:xfrm>
              <a:off x="190500" y="152400"/>
              <a:ext cx="431800" cy="469900"/>
            </a:xfrm>
            <a:prstGeom prst="rect">
              <a:avLst/>
            </a:prstGeom>
          </p:spPr>
          <p:txBody>
            <a:bodyPr lIns="33867" tIns="33867" rIns="33867" bIns="33867" rtlCol="0" anchor="ctr"/>
            <a:lstStyle/>
            <a:p>
              <a:pPr algn="ctr">
                <a:lnSpc>
                  <a:spcPts val="1820"/>
                </a:lnSpc>
              </a:pPr>
              <a:endParaRPr sz="1200"/>
            </a:p>
          </p:txBody>
        </p:sp>
      </p:grpSp>
      <p:grpSp>
        <p:nvGrpSpPr>
          <p:cNvPr id="6" name="Group 6"/>
          <p:cNvGrpSpPr/>
          <p:nvPr/>
        </p:nvGrpSpPr>
        <p:grpSpPr>
          <a:xfrm>
            <a:off x="8374365" y="4532065"/>
            <a:ext cx="862955" cy="862955"/>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23232"/>
            </a:solidFill>
          </p:spPr>
          <p:txBody>
            <a:bodyPr/>
            <a:lstStyle/>
            <a:p>
              <a:endParaRPr lang="LID4096" sz="1200"/>
            </a:p>
          </p:txBody>
        </p:sp>
        <p:sp>
          <p:nvSpPr>
            <p:cNvPr id="8" name="TextBox 8"/>
            <p:cNvSpPr txBox="1"/>
            <p:nvPr/>
          </p:nvSpPr>
          <p:spPr>
            <a:xfrm>
              <a:off x="76200" y="38100"/>
              <a:ext cx="660400" cy="698500"/>
            </a:xfrm>
            <a:prstGeom prst="rect">
              <a:avLst/>
            </a:prstGeom>
          </p:spPr>
          <p:txBody>
            <a:bodyPr lIns="33867" tIns="33867" rIns="33867" bIns="33867" rtlCol="0" anchor="ctr"/>
            <a:lstStyle/>
            <a:p>
              <a:pPr algn="ctr">
                <a:lnSpc>
                  <a:spcPts val="1820"/>
                </a:lnSpc>
              </a:pPr>
              <a:endParaRPr sz="1200"/>
            </a:p>
          </p:txBody>
        </p:sp>
      </p:grpSp>
      <p:sp>
        <p:nvSpPr>
          <p:cNvPr id="9" name="TextBox 9"/>
          <p:cNvSpPr txBox="1"/>
          <p:nvPr/>
        </p:nvSpPr>
        <p:spPr>
          <a:xfrm>
            <a:off x="474470" y="1409898"/>
            <a:ext cx="5396366" cy="2154436"/>
          </a:xfrm>
          <a:prstGeom prst="rect">
            <a:avLst/>
          </a:prstGeom>
        </p:spPr>
        <p:txBody>
          <a:bodyPr lIns="0" tIns="0" rIns="0" bIns="0" rtlCol="0" anchor="t">
            <a:spAutoFit/>
          </a:bodyPr>
          <a:lstStyle/>
          <a:p>
            <a:pPr>
              <a:lnSpc>
                <a:spcPts val="8365"/>
              </a:lnSpc>
            </a:pPr>
            <a:r>
              <a:rPr lang="en-US" sz="8449" b="1" dirty="0">
                <a:solidFill>
                  <a:srgbClr val="2B2B2B"/>
                </a:solidFill>
                <a:latin typeface="Bricolage Grotesque Bold"/>
                <a:ea typeface="Bricolage Grotesque Bold"/>
                <a:cs typeface="Bricolage Grotesque Bold"/>
                <a:sym typeface="Bricolage Grotesque Bold"/>
              </a:rPr>
              <a:t>Content</a:t>
            </a:r>
          </a:p>
          <a:p>
            <a:pPr>
              <a:lnSpc>
                <a:spcPts val="8365"/>
              </a:lnSpc>
            </a:pPr>
            <a:r>
              <a:rPr lang="en-US" sz="8449" b="1" dirty="0">
                <a:solidFill>
                  <a:srgbClr val="2B2B2B"/>
                </a:solidFill>
                <a:latin typeface="Bricolage Grotesque Bold"/>
                <a:ea typeface="Bricolage Grotesque Bold"/>
                <a:cs typeface="Bricolage Grotesque Bold"/>
                <a:sym typeface="Bricolage Grotesque Bold"/>
              </a:rPr>
              <a:t>Index</a:t>
            </a:r>
          </a:p>
        </p:txBody>
      </p:sp>
      <p:grpSp>
        <p:nvGrpSpPr>
          <p:cNvPr id="10" name="Group 10"/>
          <p:cNvGrpSpPr/>
          <p:nvPr/>
        </p:nvGrpSpPr>
        <p:grpSpPr>
          <a:xfrm>
            <a:off x="6059888" y="2816648"/>
            <a:ext cx="513841" cy="51384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23232"/>
            </a:solidFill>
          </p:spPr>
          <p:txBody>
            <a:bodyPr/>
            <a:lstStyle/>
            <a:p>
              <a:endParaRPr lang="LID4096" sz="1200"/>
            </a:p>
          </p:txBody>
        </p:sp>
        <p:sp>
          <p:nvSpPr>
            <p:cNvPr id="12" name="TextBox 12"/>
            <p:cNvSpPr txBox="1"/>
            <p:nvPr/>
          </p:nvSpPr>
          <p:spPr>
            <a:xfrm>
              <a:off x="76200" y="38100"/>
              <a:ext cx="660400" cy="698500"/>
            </a:xfrm>
            <a:prstGeom prst="rect">
              <a:avLst/>
            </a:prstGeom>
          </p:spPr>
          <p:txBody>
            <a:bodyPr lIns="33867" tIns="33867" rIns="33867" bIns="33867" rtlCol="0" anchor="ctr"/>
            <a:lstStyle/>
            <a:p>
              <a:pPr algn="ctr">
                <a:lnSpc>
                  <a:spcPts val="1570"/>
                </a:lnSpc>
              </a:pPr>
              <a:endParaRPr sz="1200"/>
            </a:p>
          </p:txBody>
        </p:sp>
      </p:grpSp>
      <p:sp>
        <p:nvSpPr>
          <p:cNvPr id="13" name="Freeform 13"/>
          <p:cNvSpPr/>
          <p:nvPr/>
        </p:nvSpPr>
        <p:spPr>
          <a:xfrm>
            <a:off x="6207385" y="2964145"/>
            <a:ext cx="218847" cy="218847"/>
          </a:xfrm>
          <a:custGeom>
            <a:avLst/>
            <a:gdLst/>
            <a:ahLst/>
            <a:cxnLst/>
            <a:rect l="l" t="t" r="r" b="b"/>
            <a:pathLst>
              <a:path w="328271" h="328271">
                <a:moveTo>
                  <a:pt x="0" y="0"/>
                </a:moveTo>
                <a:lnTo>
                  <a:pt x="328271" y="0"/>
                </a:lnTo>
                <a:lnTo>
                  <a:pt x="328271" y="328271"/>
                </a:lnTo>
                <a:lnTo>
                  <a:pt x="0" y="3282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LID4096" sz="1200"/>
          </a:p>
        </p:txBody>
      </p:sp>
      <p:sp>
        <p:nvSpPr>
          <p:cNvPr id="14" name="TextBox 14"/>
          <p:cNvSpPr txBox="1"/>
          <p:nvPr/>
        </p:nvSpPr>
        <p:spPr>
          <a:xfrm>
            <a:off x="504857" y="4059383"/>
            <a:ext cx="886752" cy="506292"/>
          </a:xfrm>
          <a:prstGeom prst="rect">
            <a:avLst/>
          </a:prstGeom>
        </p:spPr>
        <p:txBody>
          <a:bodyPr lIns="0" tIns="0" rIns="0" bIns="0" rtlCol="0" anchor="t">
            <a:spAutoFit/>
          </a:bodyPr>
          <a:lstStyle/>
          <a:p>
            <a:pPr>
              <a:lnSpc>
                <a:spcPts val="4287"/>
              </a:lnSpc>
            </a:pPr>
            <a:r>
              <a:rPr lang="en-US" sz="3175" dirty="0">
                <a:solidFill>
                  <a:srgbClr val="2B2B2B"/>
                </a:solidFill>
                <a:latin typeface="Bricolage Grotesque"/>
                <a:ea typeface="Bricolage Grotesque"/>
                <a:cs typeface="Bricolage Grotesque"/>
                <a:sym typeface="Bricolage Grotesque"/>
              </a:rPr>
              <a:t>01</a:t>
            </a:r>
          </a:p>
        </p:txBody>
      </p:sp>
      <p:sp>
        <p:nvSpPr>
          <p:cNvPr id="15" name="TextBox 15"/>
          <p:cNvSpPr txBox="1"/>
          <p:nvPr/>
        </p:nvSpPr>
        <p:spPr>
          <a:xfrm>
            <a:off x="474469" y="4668272"/>
            <a:ext cx="1280441" cy="443326"/>
          </a:xfrm>
          <a:prstGeom prst="rect">
            <a:avLst/>
          </a:prstGeom>
        </p:spPr>
        <p:txBody>
          <a:bodyPr lIns="0" tIns="0" rIns="0" bIns="0" rtlCol="0" anchor="t">
            <a:spAutoFit/>
          </a:bodyPr>
          <a:lstStyle/>
          <a:p>
            <a:pPr>
              <a:lnSpc>
                <a:spcPts val="1820"/>
              </a:lnSpc>
            </a:pPr>
            <a:r>
              <a:rPr lang="en-US" sz="1400" b="1" dirty="0">
                <a:solidFill>
                  <a:srgbClr val="2B2B2B"/>
                </a:solidFill>
                <a:latin typeface="Bricolage Grotesque"/>
                <a:ea typeface="Bricolage Grotesque"/>
                <a:cs typeface="Bricolage Grotesque"/>
                <a:sym typeface="Bricolage Grotesque"/>
              </a:rPr>
              <a:t>Overview Of</a:t>
            </a:r>
          </a:p>
          <a:p>
            <a:pPr>
              <a:lnSpc>
                <a:spcPts val="1820"/>
              </a:lnSpc>
            </a:pPr>
            <a:r>
              <a:rPr lang="en-US" sz="1400" b="1" dirty="0">
                <a:solidFill>
                  <a:srgbClr val="2B2B2B"/>
                </a:solidFill>
                <a:latin typeface="Bricolage Grotesque"/>
                <a:ea typeface="Bricolage Grotesque"/>
                <a:cs typeface="Bricolage Grotesque"/>
                <a:sym typeface="Bricolage Grotesque"/>
              </a:rPr>
              <a:t>Data</a:t>
            </a:r>
          </a:p>
        </p:txBody>
      </p:sp>
      <p:sp>
        <p:nvSpPr>
          <p:cNvPr id="16" name="TextBox 16"/>
          <p:cNvSpPr txBox="1"/>
          <p:nvPr/>
        </p:nvSpPr>
        <p:spPr>
          <a:xfrm>
            <a:off x="474469" y="5397723"/>
            <a:ext cx="871780" cy="506292"/>
          </a:xfrm>
          <a:prstGeom prst="rect">
            <a:avLst/>
          </a:prstGeom>
        </p:spPr>
        <p:txBody>
          <a:bodyPr lIns="0" tIns="0" rIns="0" bIns="0" rtlCol="0" anchor="t">
            <a:spAutoFit/>
          </a:bodyPr>
          <a:lstStyle/>
          <a:p>
            <a:pPr>
              <a:lnSpc>
                <a:spcPts val="4287"/>
              </a:lnSpc>
            </a:pPr>
            <a:r>
              <a:rPr lang="en-US" sz="3175" dirty="0">
                <a:solidFill>
                  <a:srgbClr val="2B2B2B"/>
                </a:solidFill>
                <a:latin typeface="Bricolage Grotesque"/>
                <a:ea typeface="Bricolage Grotesque"/>
                <a:cs typeface="Bricolage Grotesque"/>
                <a:sym typeface="Bricolage Grotesque"/>
              </a:rPr>
              <a:t>05</a:t>
            </a:r>
          </a:p>
        </p:txBody>
      </p:sp>
      <p:sp>
        <p:nvSpPr>
          <p:cNvPr id="17" name="TextBox 17"/>
          <p:cNvSpPr txBox="1"/>
          <p:nvPr/>
        </p:nvSpPr>
        <p:spPr>
          <a:xfrm>
            <a:off x="474469" y="5942752"/>
            <a:ext cx="1131992" cy="444865"/>
          </a:xfrm>
          <a:prstGeom prst="rect">
            <a:avLst/>
          </a:prstGeom>
        </p:spPr>
        <p:txBody>
          <a:bodyPr wrap="square" lIns="0" tIns="0" rIns="0" bIns="0" rtlCol="0" anchor="t">
            <a:spAutoFit/>
          </a:bodyPr>
          <a:lstStyle/>
          <a:p>
            <a:pPr>
              <a:lnSpc>
                <a:spcPts val="1820"/>
              </a:lnSpc>
            </a:pPr>
            <a:r>
              <a:rPr lang="en-US" sz="1400" b="1" dirty="0">
                <a:solidFill>
                  <a:srgbClr val="2B2B2B"/>
                </a:solidFill>
                <a:latin typeface="Bricolage Grotesque"/>
                <a:ea typeface="Bricolage Grotesque"/>
                <a:cs typeface="Bricolage Grotesque"/>
                <a:sym typeface="Bricolage Grotesque"/>
              </a:rPr>
              <a:t>Dashboard walkthrough</a:t>
            </a:r>
          </a:p>
        </p:txBody>
      </p:sp>
      <p:sp>
        <p:nvSpPr>
          <p:cNvPr id="18" name="TextBox 18"/>
          <p:cNvSpPr txBox="1"/>
          <p:nvPr/>
        </p:nvSpPr>
        <p:spPr>
          <a:xfrm>
            <a:off x="2040661" y="4059306"/>
            <a:ext cx="778385" cy="506292"/>
          </a:xfrm>
          <a:prstGeom prst="rect">
            <a:avLst/>
          </a:prstGeom>
        </p:spPr>
        <p:txBody>
          <a:bodyPr lIns="0" tIns="0" rIns="0" bIns="0" rtlCol="0" anchor="t">
            <a:spAutoFit/>
          </a:bodyPr>
          <a:lstStyle/>
          <a:p>
            <a:pPr>
              <a:lnSpc>
                <a:spcPts val="4287"/>
              </a:lnSpc>
            </a:pPr>
            <a:r>
              <a:rPr lang="en-US" sz="3175" dirty="0">
                <a:solidFill>
                  <a:srgbClr val="2B2B2B"/>
                </a:solidFill>
                <a:latin typeface="Bricolage Grotesque"/>
                <a:ea typeface="Bricolage Grotesque"/>
                <a:cs typeface="Bricolage Grotesque"/>
                <a:sym typeface="Bricolage Grotesque"/>
              </a:rPr>
              <a:t>02</a:t>
            </a:r>
          </a:p>
        </p:txBody>
      </p:sp>
      <p:sp>
        <p:nvSpPr>
          <p:cNvPr id="19" name="TextBox 19"/>
          <p:cNvSpPr txBox="1"/>
          <p:nvPr/>
        </p:nvSpPr>
        <p:spPr>
          <a:xfrm>
            <a:off x="2037945" y="4667495"/>
            <a:ext cx="1041159" cy="646331"/>
          </a:xfrm>
          <a:prstGeom prst="rect">
            <a:avLst/>
          </a:prstGeom>
        </p:spPr>
        <p:txBody>
          <a:bodyPr lIns="0" tIns="0" rIns="0" bIns="0" rtlCol="0" anchor="t">
            <a:spAutoFit/>
          </a:bodyPr>
          <a:lstStyle/>
          <a:p>
            <a:r>
              <a:rPr lang="en-US" sz="1400" b="1" dirty="0">
                <a:latin typeface="Bricolage Grotesque" panose="020B0604020202020204" charset="0"/>
              </a:rPr>
              <a:t>Exploratory Data Analysis</a:t>
            </a:r>
          </a:p>
        </p:txBody>
      </p:sp>
      <p:sp>
        <p:nvSpPr>
          <p:cNvPr id="20" name="TextBox 20"/>
          <p:cNvSpPr txBox="1"/>
          <p:nvPr/>
        </p:nvSpPr>
        <p:spPr>
          <a:xfrm>
            <a:off x="2040661" y="5397723"/>
            <a:ext cx="778385" cy="506292"/>
          </a:xfrm>
          <a:prstGeom prst="rect">
            <a:avLst/>
          </a:prstGeom>
        </p:spPr>
        <p:txBody>
          <a:bodyPr lIns="0" tIns="0" rIns="0" bIns="0" rtlCol="0" anchor="t">
            <a:spAutoFit/>
          </a:bodyPr>
          <a:lstStyle/>
          <a:p>
            <a:pPr>
              <a:lnSpc>
                <a:spcPts val="4287"/>
              </a:lnSpc>
            </a:pPr>
            <a:r>
              <a:rPr lang="en-US" sz="3175" dirty="0">
                <a:solidFill>
                  <a:srgbClr val="2B2B2B"/>
                </a:solidFill>
                <a:latin typeface="Bricolage Grotesque"/>
                <a:ea typeface="Bricolage Grotesque"/>
                <a:cs typeface="Bricolage Grotesque"/>
                <a:sym typeface="Bricolage Grotesque"/>
              </a:rPr>
              <a:t>06</a:t>
            </a:r>
          </a:p>
        </p:txBody>
      </p:sp>
      <p:sp>
        <p:nvSpPr>
          <p:cNvPr id="21" name="TextBox 21"/>
          <p:cNvSpPr txBox="1"/>
          <p:nvPr/>
        </p:nvSpPr>
        <p:spPr>
          <a:xfrm>
            <a:off x="2040661" y="5942752"/>
            <a:ext cx="1131992" cy="212494"/>
          </a:xfrm>
          <a:prstGeom prst="rect">
            <a:avLst/>
          </a:prstGeom>
        </p:spPr>
        <p:txBody>
          <a:bodyPr lIns="0" tIns="0" rIns="0" bIns="0" rtlCol="0" anchor="t">
            <a:spAutoFit/>
          </a:bodyPr>
          <a:lstStyle/>
          <a:p>
            <a:pPr>
              <a:lnSpc>
                <a:spcPts val="1820"/>
              </a:lnSpc>
            </a:pPr>
            <a:r>
              <a:rPr lang="en-US" sz="1400" b="1" dirty="0">
                <a:solidFill>
                  <a:srgbClr val="2B2B2B"/>
                </a:solidFill>
                <a:latin typeface="Bricolage Grotesque"/>
                <a:ea typeface="Bricolage Grotesque"/>
                <a:cs typeface="Bricolage Grotesque"/>
                <a:sym typeface="Bricolage Grotesque"/>
              </a:rPr>
              <a:t>Key Findings</a:t>
            </a:r>
          </a:p>
        </p:txBody>
      </p:sp>
      <p:sp>
        <p:nvSpPr>
          <p:cNvPr id="22" name="TextBox 22"/>
          <p:cNvSpPr txBox="1"/>
          <p:nvPr/>
        </p:nvSpPr>
        <p:spPr>
          <a:xfrm>
            <a:off x="3472683" y="4061530"/>
            <a:ext cx="735985" cy="506292"/>
          </a:xfrm>
          <a:prstGeom prst="rect">
            <a:avLst/>
          </a:prstGeom>
        </p:spPr>
        <p:txBody>
          <a:bodyPr lIns="0" tIns="0" rIns="0" bIns="0" rtlCol="0" anchor="t">
            <a:spAutoFit/>
          </a:bodyPr>
          <a:lstStyle/>
          <a:p>
            <a:pPr>
              <a:lnSpc>
                <a:spcPts val="4287"/>
              </a:lnSpc>
            </a:pPr>
            <a:r>
              <a:rPr lang="en-US" sz="3175" dirty="0">
                <a:solidFill>
                  <a:srgbClr val="2B2B2B"/>
                </a:solidFill>
                <a:latin typeface="Bricolage Grotesque"/>
                <a:ea typeface="Bricolage Grotesque"/>
                <a:cs typeface="Bricolage Grotesque"/>
                <a:sym typeface="Bricolage Grotesque"/>
              </a:rPr>
              <a:t>03</a:t>
            </a:r>
          </a:p>
        </p:txBody>
      </p:sp>
      <p:sp>
        <p:nvSpPr>
          <p:cNvPr id="23" name="TextBox 23"/>
          <p:cNvSpPr txBox="1"/>
          <p:nvPr/>
        </p:nvSpPr>
        <p:spPr>
          <a:xfrm>
            <a:off x="3498486" y="4668272"/>
            <a:ext cx="1174821" cy="444865"/>
          </a:xfrm>
          <a:prstGeom prst="rect">
            <a:avLst/>
          </a:prstGeom>
        </p:spPr>
        <p:txBody>
          <a:bodyPr lIns="0" tIns="0" rIns="0" bIns="0" rtlCol="0" anchor="t">
            <a:spAutoFit/>
          </a:bodyPr>
          <a:lstStyle/>
          <a:p>
            <a:pPr>
              <a:lnSpc>
                <a:spcPts val="1820"/>
              </a:lnSpc>
            </a:pPr>
            <a:r>
              <a:rPr lang="en-US" sz="1400" b="1" dirty="0">
                <a:solidFill>
                  <a:srgbClr val="2B2B2B"/>
                </a:solidFill>
                <a:latin typeface="Bricolage Grotesque"/>
                <a:ea typeface="Bricolage Grotesque"/>
                <a:cs typeface="Bricolage Grotesque"/>
                <a:sym typeface="Bricolage Grotesque"/>
              </a:rPr>
              <a:t>Data Cleaning</a:t>
            </a:r>
          </a:p>
        </p:txBody>
      </p:sp>
      <p:sp>
        <p:nvSpPr>
          <p:cNvPr id="24" name="TextBox 24"/>
          <p:cNvSpPr txBox="1"/>
          <p:nvPr/>
        </p:nvSpPr>
        <p:spPr>
          <a:xfrm>
            <a:off x="3498486" y="5397723"/>
            <a:ext cx="778417" cy="506292"/>
          </a:xfrm>
          <a:prstGeom prst="rect">
            <a:avLst/>
          </a:prstGeom>
        </p:spPr>
        <p:txBody>
          <a:bodyPr lIns="0" tIns="0" rIns="0" bIns="0" rtlCol="0" anchor="t">
            <a:spAutoFit/>
          </a:bodyPr>
          <a:lstStyle/>
          <a:p>
            <a:pPr>
              <a:lnSpc>
                <a:spcPts val="4287"/>
              </a:lnSpc>
            </a:pPr>
            <a:r>
              <a:rPr lang="en-US" sz="3175" dirty="0">
                <a:solidFill>
                  <a:srgbClr val="2B2B2B"/>
                </a:solidFill>
                <a:latin typeface="Bricolage Grotesque"/>
                <a:ea typeface="Bricolage Grotesque"/>
                <a:cs typeface="Bricolage Grotesque"/>
                <a:sym typeface="Bricolage Grotesque"/>
              </a:rPr>
              <a:t>07</a:t>
            </a:r>
          </a:p>
        </p:txBody>
      </p:sp>
      <p:sp>
        <p:nvSpPr>
          <p:cNvPr id="25" name="TextBox 25"/>
          <p:cNvSpPr txBox="1"/>
          <p:nvPr/>
        </p:nvSpPr>
        <p:spPr>
          <a:xfrm>
            <a:off x="3498486" y="5942752"/>
            <a:ext cx="1813309" cy="212494"/>
          </a:xfrm>
          <a:prstGeom prst="rect">
            <a:avLst/>
          </a:prstGeom>
        </p:spPr>
        <p:txBody>
          <a:bodyPr lIns="0" tIns="0" rIns="0" bIns="0" rtlCol="0" anchor="t">
            <a:spAutoFit/>
          </a:bodyPr>
          <a:lstStyle/>
          <a:p>
            <a:pPr>
              <a:lnSpc>
                <a:spcPts val="1820"/>
              </a:lnSpc>
            </a:pPr>
            <a:r>
              <a:rPr lang="en-US" sz="1400" b="1" dirty="0">
                <a:solidFill>
                  <a:srgbClr val="2B2B2B"/>
                </a:solidFill>
                <a:latin typeface="Bricolage Grotesque"/>
                <a:ea typeface="Bricolage Grotesque"/>
                <a:cs typeface="Bricolage Grotesque"/>
                <a:sym typeface="Bricolage Grotesque"/>
              </a:rPr>
              <a:t>Recommendations</a:t>
            </a:r>
          </a:p>
        </p:txBody>
      </p:sp>
      <p:sp>
        <p:nvSpPr>
          <p:cNvPr id="26" name="TextBox 26"/>
          <p:cNvSpPr txBox="1"/>
          <p:nvPr/>
        </p:nvSpPr>
        <p:spPr>
          <a:xfrm>
            <a:off x="4856180" y="4066224"/>
            <a:ext cx="710903" cy="506292"/>
          </a:xfrm>
          <a:prstGeom prst="rect">
            <a:avLst/>
          </a:prstGeom>
        </p:spPr>
        <p:txBody>
          <a:bodyPr lIns="0" tIns="0" rIns="0" bIns="0" rtlCol="0" anchor="t">
            <a:spAutoFit/>
          </a:bodyPr>
          <a:lstStyle/>
          <a:p>
            <a:pPr>
              <a:lnSpc>
                <a:spcPts val="4287"/>
              </a:lnSpc>
            </a:pPr>
            <a:r>
              <a:rPr lang="en-US" sz="3175" dirty="0">
                <a:solidFill>
                  <a:srgbClr val="2B2B2B"/>
                </a:solidFill>
                <a:latin typeface="Bricolage Grotesque"/>
                <a:ea typeface="Bricolage Grotesque"/>
                <a:cs typeface="Bricolage Grotesque"/>
                <a:sym typeface="Bricolage Grotesque"/>
              </a:rPr>
              <a:t>04</a:t>
            </a:r>
          </a:p>
        </p:txBody>
      </p:sp>
      <p:sp>
        <p:nvSpPr>
          <p:cNvPr id="27" name="TextBox 27"/>
          <p:cNvSpPr txBox="1"/>
          <p:nvPr/>
        </p:nvSpPr>
        <p:spPr>
          <a:xfrm>
            <a:off x="4856180" y="4667502"/>
            <a:ext cx="1139658" cy="444865"/>
          </a:xfrm>
          <a:prstGeom prst="rect">
            <a:avLst/>
          </a:prstGeom>
        </p:spPr>
        <p:txBody>
          <a:bodyPr lIns="0" tIns="0" rIns="0" bIns="0" rtlCol="0" anchor="t">
            <a:spAutoFit/>
          </a:bodyPr>
          <a:lstStyle/>
          <a:p>
            <a:pPr>
              <a:lnSpc>
                <a:spcPts val="1820"/>
              </a:lnSpc>
            </a:pPr>
            <a:r>
              <a:rPr lang="en-US" sz="1400" b="1" dirty="0">
                <a:solidFill>
                  <a:srgbClr val="2B2B2B"/>
                </a:solidFill>
                <a:latin typeface="Bricolage Grotesque"/>
                <a:ea typeface="Bricolage Grotesque"/>
                <a:cs typeface="Bricolage Grotesque"/>
                <a:sym typeface="Bricolage Grotesque"/>
              </a:rPr>
              <a:t>Data Validation</a:t>
            </a:r>
          </a:p>
        </p:txBody>
      </p:sp>
      <p:sp>
        <p:nvSpPr>
          <p:cNvPr id="28" name="Freeform 28"/>
          <p:cNvSpPr/>
          <p:nvPr/>
        </p:nvSpPr>
        <p:spPr>
          <a:xfrm>
            <a:off x="8510572" y="4668272"/>
            <a:ext cx="590541" cy="590541"/>
          </a:xfrm>
          <a:custGeom>
            <a:avLst/>
            <a:gdLst/>
            <a:ahLst/>
            <a:cxnLst/>
            <a:rect l="l" t="t" r="r" b="b"/>
            <a:pathLst>
              <a:path w="885811" h="885811">
                <a:moveTo>
                  <a:pt x="0" y="0"/>
                </a:moveTo>
                <a:lnTo>
                  <a:pt x="885811" y="0"/>
                </a:lnTo>
                <a:lnTo>
                  <a:pt x="885811" y="885811"/>
                </a:lnTo>
                <a:lnTo>
                  <a:pt x="0" y="88581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LID4096" sz="1200"/>
          </a:p>
        </p:txBody>
      </p:sp>
      <p:sp>
        <p:nvSpPr>
          <p:cNvPr id="29" name="TextBox 29"/>
          <p:cNvSpPr txBox="1"/>
          <p:nvPr/>
        </p:nvSpPr>
        <p:spPr>
          <a:xfrm>
            <a:off x="576069" y="457325"/>
            <a:ext cx="770180" cy="175433"/>
          </a:xfrm>
          <a:prstGeom prst="rect">
            <a:avLst/>
          </a:prstGeom>
        </p:spPr>
        <p:txBody>
          <a:bodyPr lIns="0" tIns="0" rIns="0" bIns="0" rtlCol="0" anchor="t">
            <a:spAutoFit/>
          </a:bodyPr>
          <a:lstStyle/>
          <a:p>
            <a:pPr>
              <a:lnSpc>
                <a:spcPts val="1493"/>
              </a:lnSpc>
            </a:pPr>
            <a:r>
              <a:rPr lang="en-US" sz="1066">
                <a:solidFill>
                  <a:srgbClr val="2B2B2B"/>
                </a:solidFill>
                <a:latin typeface="Bricolage Grotesque"/>
                <a:ea typeface="Bricolage Grotesque"/>
                <a:cs typeface="Bricolage Grotesque"/>
                <a:sym typeface="Bricolage Grotesque"/>
              </a:rPr>
              <a:t>Excelerate</a:t>
            </a:r>
          </a:p>
        </p:txBody>
      </p:sp>
      <p:grpSp>
        <p:nvGrpSpPr>
          <p:cNvPr id="30" name="Group 30"/>
          <p:cNvGrpSpPr/>
          <p:nvPr/>
        </p:nvGrpSpPr>
        <p:grpSpPr>
          <a:xfrm>
            <a:off x="474470" y="530866"/>
            <a:ext cx="60774" cy="60774"/>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23232"/>
            </a:solidFill>
          </p:spPr>
          <p:txBody>
            <a:bodyPr/>
            <a:lstStyle/>
            <a:p>
              <a:endParaRPr lang="LID4096" sz="1200"/>
            </a:p>
          </p:txBody>
        </p:sp>
        <p:sp>
          <p:nvSpPr>
            <p:cNvPr id="32" name="TextBox 32"/>
            <p:cNvSpPr txBox="1"/>
            <p:nvPr/>
          </p:nvSpPr>
          <p:spPr>
            <a:xfrm>
              <a:off x="76200" y="38100"/>
              <a:ext cx="660400" cy="698500"/>
            </a:xfrm>
            <a:prstGeom prst="rect">
              <a:avLst/>
            </a:prstGeom>
          </p:spPr>
          <p:txBody>
            <a:bodyPr lIns="33867" tIns="33867" rIns="33867" bIns="33867" rtlCol="0" anchor="ctr"/>
            <a:lstStyle/>
            <a:p>
              <a:pPr algn="ctr">
                <a:lnSpc>
                  <a:spcPts val="1570"/>
                </a:lnSpc>
              </a:pPr>
              <a:endParaRPr sz="120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A61A0-9656-A3C7-651E-AFE6F58979E1}"/>
              </a:ext>
            </a:extLst>
          </p:cNvPr>
          <p:cNvSpPr>
            <a:spLocks noGrp="1"/>
          </p:cNvSpPr>
          <p:nvPr>
            <p:ph type="title"/>
          </p:nvPr>
        </p:nvSpPr>
        <p:spPr>
          <a:xfrm>
            <a:off x="838200" y="344806"/>
            <a:ext cx="10515600" cy="685462"/>
          </a:xfrm>
        </p:spPr>
        <p:txBody>
          <a:bodyPr>
            <a:normAutofit/>
          </a:bodyPr>
          <a:lstStyle/>
          <a:p>
            <a:r>
              <a:rPr lang="en-US" sz="3000" b="1" dirty="0">
                <a:solidFill>
                  <a:schemeClr val="accent2"/>
                </a:solidFill>
              </a:rPr>
              <a:t>Project Overview:</a:t>
            </a:r>
          </a:p>
        </p:txBody>
      </p:sp>
      <p:sp>
        <p:nvSpPr>
          <p:cNvPr id="3" name="Content Placeholder 2">
            <a:extLst>
              <a:ext uri="{FF2B5EF4-FFF2-40B4-BE49-F238E27FC236}">
                <a16:creationId xmlns:a16="http://schemas.microsoft.com/office/drawing/2014/main" id="{6229ED04-57B4-B8EF-E8A3-F22D7475C991}"/>
              </a:ext>
            </a:extLst>
          </p:cNvPr>
          <p:cNvSpPr>
            <a:spLocks noGrp="1"/>
          </p:cNvSpPr>
          <p:nvPr>
            <p:ph idx="1"/>
          </p:nvPr>
        </p:nvSpPr>
        <p:spPr>
          <a:xfrm>
            <a:off x="838200" y="1138136"/>
            <a:ext cx="10515600" cy="5038827"/>
          </a:xfrm>
        </p:spPr>
        <p:txBody>
          <a:bodyPr>
            <a:normAutofit/>
          </a:bodyPr>
          <a:lstStyle/>
          <a:p>
            <a:r>
              <a:rPr lang="en-US" sz="2000" dirty="0"/>
              <a:t>This Project provides an in-depth examination of three interconnected datasets—</a:t>
            </a:r>
            <a:r>
              <a:rPr lang="en-US" sz="2000" b="1" dirty="0" err="1"/>
              <a:t>ApplicantData</a:t>
            </a:r>
            <a:r>
              <a:rPr lang="en-US" sz="2000" b="1" dirty="0"/>
              <a:t>, </a:t>
            </a:r>
            <a:r>
              <a:rPr lang="en-US" sz="2000" b="1" dirty="0" err="1"/>
              <a:t>OutreachData</a:t>
            </a:r>
            <a:r>
              <a:rPr lang="en-US" sz="2000" b="1" dirty="0"/>
              <a:t>, and </a:t>
            </a:r>
            <a:r>
              <a:rPr lang="en-US" sz="2000" b="1" dirty="0" err="1"/>
              <a:t>CampaignData</a:t>
            </a:r>
            <a:r>
              <a:rPr lang="en-US" sz="2000" dirty="0"/>
              <a:t>—from the Illinois Institute of Technology’s admissions pipeline for AY2024. The exploratory data analysis (PRELIMINARY DATA EXPLORATION) uncovered key patterns, irregularities, and trends.</a:t>
            </a:r>
          </a:p>
          <a:p>
            <a:endParaRPr lang="en-US" sz="2000" dirty="0"/>
          </a:p>
          <a:p>
            <a:pPr marL="0" indent="0">
              <a:buNone/>
            </a:pPr>
            <a:r>
              <a:rPr lang="en-US" sz="3000" b="1" dirty="0">
                <a:solidFill>
                  <a:schemeClr val="accent2"/>
                </a:solidFill>
                <a:latin typeface="+mj-lt"/>
              </a:rPr>
              <a:t>Exploratory Data Analysis:</a:t>
            </a:r>
          </a:p>
          <a:p>
            <a:r>
              <a:rPr lang="en-US" sz="2000" dirty="0"/>
              <a:t>The goal to gain an initial insight into a dataset by examining its structure, main features, and underlying patterns. </a:t>
            </a:r>
          </a:p>
          <a:p>
            <a:r>
              <a:rPr lang="en-US" sz="2000" dirty="0"/>
              <a:t>It is also essential for spotting anomalies, inconsistencies.</a:t>
            </a:r>
          </a:p>
          <a:p>
            <a:pPr marL="0" indent="0">
              <a:buNone/>
            </a:pPr>
            <a:endParaRPr lang="en-US" sz="2000" dirty="0"/>
          </a:p>
        </p:txBody>
      </p:sp>
    </p:spTree>
    <p:extLst>
      <p:ext uri="{BB962C8B-B14F-4D97-AF65-F5344CB8AC3E}">
        <p14:creationId xmlns:p14="http://schemas.microsoft.com/office/powerpoint/2010/main" val="1894255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1A8E74-5293-EBFA-BB66-DFF2C3AEEB1E}"/>
              </a:ext>
            </a:extLst>
          </p:cNvPr>
          <p:cNvSpPr>
            <a:spLocks noGrp="1"/>
          </p:cNvSpPr>
          <p:nvPr>
            <p:ph idx="1"/>
          </p:nvPr>
        </p:nvSpPr>
        <p:spPr>
          <a:xfrm>
            <a:off x="838200" y="457199"/>
            <a:ext cx="10515600" cy="5872481"/>
          </a:xfrm>
        </p:spPr>
        <p:txBody>
          <a:bodyPr>
            <a:normAutofit/>
          </a:bodyPr>
          <a:lstStyle/>
          <a:p>
            <a:r>
              <a:rPr lang="en-US" sz="3000" b="1" dirty="0"/>
              <a:t>Applicant Data Set :</a:t>
            </a:r>
          </a:p>
          <a:p>
            <a:pPr lvl="0"/>
            <a:r>
              <a:rPr lang="en-US" sz="2000" dirty="0"/>
              <a:t>Top country: </a:t>
            </a:r>
            <a:r>
              <a:rPr lang="en-US" sz="2000" b="1" dirty="0"/>
              <a:t>India</a:t>
            </a:r>
            <a:r>
              <a:rPr lang="en-US" sz="2000" dirty="0"/>
              <a:t> with </a:t>
            </a:r>
            <a:r>
              <a:rPr lang="en-US" sz="2000" b="1" dirty="0"/>
              <a:t>12,234 records</a:t>
            </a:r>
            <a:r>
              <a:rPr lang="en-US" sz="2000" dirty="0"/>
              <a:t>.</a:t>
            </a:r>
          </a:p>
          <a:p>
            <a:r>
              <a:rPr lang="en-US" sz="2000" dirty="0"/>
              <a:t>Instead of country names, there are </a:t>
            </a:r>
            <a:r>
              <a:rPr lang="en-US" sz="2000" b="1" dirty="0"/>
              <a:t>email IDs and other invalid text values</a:t>
            </a:r>
            <a:r>
              <a:rPr lang="en-US" sz="2000" dirty="0"/>
              <a:t> appearing in the “Country” column.</a:t>
            </a:r>
            <a:endParaRPr lang="en-US" sz="2000" b="1" i="1" dirty="0"/>
          </a:p>
          <a:p>
            <a:r>
              <a:rPr lang="en-US" sz="2000" dirty="0"/>
              <a:t>Phone Numbers vary in format: some 10 digits, some include country codes, others up to 13 digits.</a:t>
            </a:r>
          </a:p>
          <a:p>
            <a:endParaRPr lang="en-US" sz="2000" dirty="0"/>
          </a:p>
          <a:p>
            <a:r>
              <a:rPr lang="en-US" sz="3200" b="1" dirty="0">
                <a:solidFill>
                  <a:schemeClr val="accent2"/>
                </a:solidFill>
                <a:latin typeface="+mj-lt"/>
              </a:rPr>
              <a:t>Data Cleaning:</a:t>
            </a:r>
          </a:p>
          <a:p>
            <a:pPr marL="457200" indent="-457200">
              <a:buFont typeface="+mj-lt"/>
              <a:buAutoNum type="arabicPeriod"/>
            </a:pPr>
            <a:r>
              <a:rPr lang="en-US" sz="2000" b="1" dirty="0"/>
              <a:t>Duplicate Records</a:t>
            </a:r>
          </a:p>
          <a:p>
            <a:pPr marL="457200" indent="-457200">
              <a:buFont typeface="+mj-lt"/>
              <a:buAutoNum type="arabicPeriod" startAt="2"/>
            </a:pPr>
            <a:r>
              <a:rPr lang="en-US" sz="2000" b="1" dirty="0"/>
              <a:t>Missing and Invalid Country Values</a:t>
            </a:r>
          </a:p>
          <a:p>
            <a:pPr marL="0" lvl="0" indent="0">
              <a:buNone/>
            </a:pPr>
            <a:endParaRPr lang="en-US" sz="2000" dirty="0"/>
          </a:p>
          <a:p>
            <a:pPr marL="0" indent="0">
              <a:buNone/>
            </a:pPr>
            <a:endParaRPr lang="en-US" sz="2000" dirty="0">
              <a:solidFill>
                <a:schemeClr val="accent2"/>
              </a:solidFill>
            </a:endParaRPr>
          </a:p>
        </p:txBody>
      </p:sp>
    </p:spTree>
    <p:extLst>
      <p:ext uri="{BB962C8B-B14F-4D97-AF65-F5344CB8AC3E}">
        <p14:creationId xmlns:p14="http://schemas.microsoft.com/office/powerpoint/2010/main" val="1677589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C76DF359-C9B2-C042-5EE8-F03322A2ED2B}"/>
              </a:ext>
            </a:extLst>
          </p:cNvPr>
          <p:cNvSpPr>
            <a:spLocks noGrp="1"/>
          </p:cNvSpPr>
          <p:nvPr>
            <p:ph idx="1"/>
          </p:nvPr>
        </p:nvSpPr>
        <p:spPr>
          <a:xfrm>
            <a:off x="838200" y="457199"/>
            <a:ext cx="10515600" cy="5719763"/>
          </a:xfrm>
        </p:spPr>
        <p:txBody>
          <a:bodyPr>
            <a:normAutofit/>
          </a:bodyPr>
          <a:lstStyle/>
          <a:p>
            <a:r>
              <a:rPr lang="en-US" sz="3000" b="1" dirty="0">
                <a:solidFill>
                  <a:schemeClr val="accent2"/>
                </a:solidFill>
                <a:latin typeface="+mj-lt"/>
              </a:rPr>
              <a:t>Exploratory Data Analysis:</a:t>
            </a:r>
            <a:endParaRPr lang="en-US" sz="3000" b="1" dirty="0">
              <a:latin typeface="+mj-lt"/>
            </a:endParaRPr>
          </a:p>
          <a:p>
            <a:r>
              <a:rPr lang="en-US" b="1" dirty="0"/>
              <a:t>Outreach Data Set:</a:t>
            </a:r>
          </a:p>
          <a:p>
            <a:pPr lvl="0"/>
            <a:r>
              <a:rPr lang="en-US" sz="2000" b="1" dirty="0" err="1"/>
              <a:t>Reference_ID</a:t>
            </a:r>
            <a:endParaRPr lang="en-US" sz="2000" dirty="0"/>
          </a:p>
          <a:p>
            <a:pPr lvl="1"/>
            <a:r>
              <a:rPr lang="en-US" sz="2000" dirty="0"/>
              <a:t>Many applicants appear multiple times (multiple outreach attempts).</a:t>
            </a:r>
          </a:p>
          <a:p>
            <a:pPr lvl="0"/>
            <a:r>
              <a:rPr lang="en-US" sz="2000" b="1" dirty="0" err="1"/>
              <a:t>Campaign_ID</a:t>
            </a:r>
            <a:endParaRPr lang="en-US" sz="2000" dirty="0"/>
          </a:p>
          <a:p>
            <a:pPr lvl="1"/>
            <a:r>
              <a:rPr lang="en-US" sz="2000" dirty="0"/>
              <a:t>Most Successful is </a:t>
            </a:r>
            <a:r>
              <a:rPr lang="en-US" sz="2000" b="1" dirty="0"/>
              <a:t>FA24IP</a:t>
            </a:r>
            <a:r>
              <a:rPr lang="en-US" sz="2000" dirty="0"/>
              <a:t> (9,605 calls).</a:t>
            </a:r>
          </a:p>
          <a:p>
            <a:pPr marL="0" indent="0">
              <a:buNone/>
            </a:pPr>
            <a:endParaRPr lang="en-US" sz="2400" dirty="0"/>
          </a:p>
          <a:p>
            <a:endParaRPr lang="en-US" sz="2000" dirty="0"/>
          </a:p>
        </p:txBody>
      </p:sp>
    </p:spTree>
    <p:extLst>
      <p:ext uri="{BB962C8B-B14F-4D97-AF65-F5344CB8AC3E}">
        <p14:creationId xmlns:p14="http://schemas.microsoft.com/office/powerpoint/2010/main" val="1669149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B42D4A0A-B00D-E701-80BE-BFB1A918DD2E}"/>
              </a:ext>
            </a:extLst>
          </p:cNvPr>
          <p:cNvSpPr>
            <a:spLocks noGrp="1"/>
          </p:cNvSpPr>
          <p:nvPr>
            <p:ph idx="1"/>
          </p:nvPr>
        </p:nvSpPr>
        <p:spPr>
          <a:xfrm>
            <a:off x="838200" y="457199"/>
            <a:ext cx="10515600" cy="5719763"/>
          </a:xfrm>
        </p:spPr>
        <p:txBody>
          <a:bodyPr>
            <a:normAutofit/>
          </a:bodyPr>
          <a:lstStyle/>
          <a:p>
            <a:r>
              <a:rPr lang="en-US" b="1" i="1" dirty="0"/>
              <a:t>Call Outcomes Distribution</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p:txBody>
      </p:sp>
      <p:pic>
        <p:nvPicPr>
          <p:cNvPr id="3" name="Picture 2">
            <a:extLst>
              <a:ext uri="{FF2B5EF4-FFF2-40B4-BE49-F238E27FC236}">
                <a16:creationId xmlns:a16="http://schemas.microsoft.com/office/drawing/2014/main" id="{F5FF0461-9594-0357-34F8-DE90792001E7}"/>
              </a:ext>
            </a:extLst>
          </p:cNvPr>
          <p:cNvPicPr>
            <a:picLocks noChangeAspect="1"/>
          </p:cNvPicPr>
          <p:nvPr/>
        </p:nvPicPr>
        <p:blipFill>
          <a:blip r:embed="rId2"/>
          <a:stretch>
            <a:fillRect/>
          </a:stretch>
        </p:blipFill>
        <p:spPr>
          <a:xfrm>
            <a:off x="838201" y="1053147"/>
            <a:ext cx="8661619" cy="3420000"/>
          </a:xfrm>
          <a:prstGeom prst="rect">
            <a:avLst/>
          </a:prstGeom>
        </p:spPr>
      </p:pic>
    </p:spTree>
    <p:extLst>
      <p:ext uri="{BB962C8B-B14F-4D97-AF65-F5344CB8AC3E}">
        <p14:creationId xmlns:p14="http://schemas.microsoft.com/office/powerpoint/2010/main" val="34360661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71F30-6A4B-8809-BF68-7210F0147E39}"/>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7DBF241-C1D8-3B05-0F6C-55ED1A76E2F7}"/>
              </a:ext>
            </a:extLst>
          </p:cNvPr>
          <p:cNvSpPr>
            <a:spLocks noGrp="1"/>
          </p:cNvSpPr>
          <p:nvPr>
            <p:ph idx="1"/>
          </p:nvPr>
        </p:nvSpPr>
        <p:spPr>
          <a:xfrm>
            <a:off x="838200" y="457199"/>
            <a:ext cx="10515600" cy="5719763"/>
          </a:xfrm>
        </p:spPr>
        <p:txBody>
          <a:bodyPr>
            <a:normAutofit/>
          </a:bodyPr>
          <a:lstStyle/>
          <a:p>
            <a:r>
              <a:rPr lang="en-US" b="1" i="1" dirty="0"/>
              <a:t>Agent Performance</a:t>
            </a:r>
          </a:p>
          <a:p>
            <a:endParaRPr lang="en-US" b="1" i="1" dirty="0"/>
          </a:p>
          <a:p>
            <a:endParaRPr lang="en-US" b="1" i="1" dirty="0"/>
          </a:p>
          <a:p>
            <a:endParaRPr lang="en-US" b="1" i="1" dirty="0"/>
          </a:p>
          <a:p>
            <a:endParaRPr lang="en-US" b="1" i="1" dirty="0"/>
          </a:p>
          <a:p>
            <a:endParaRPr lang="en-US" b="1" i="1" dirty="0"/>
          </a:p>
          <a:p>
            <a:endParaRPr lang="en-US" b="1" i="1" dirty="0"/>
          </a:p>
          <a:p>
            <a:endParaRPr lang="en-US" b="1" i="1" dirty="0"/>
          </a:p>
          <a:p>
            <a:pPr lvl="0"/>
            <a:endParaRPr lang="en-US" sz="2000" dirty="0"/>
          </a:p>
        </p:txBody>
      </p:sp>
      <p:pic>
        <p:nvPicPr>
          <p:cNvPr id="3" name="Picture 2">
            <a:extLst>
              <a:ext uri="{FF2B5EF4-FFF2-40B4-BE49-F238E27FC236}">
                <a16:creationId xmlns:a16="http://schemas.microsoft.com/office/drawing/2014/main" id="{65D308DF-A038-9554-2527-0EAAC6DB62E8}"/>
              </a:ext>
            </a:extLst>
          </p:cNvPr>
          <p:cNvPicPr>
            <a:picLocks noChangeAspect="1"/>
          </p:cNvPicPr>
          <p:nvPr/>
        </p:nvPicPr>
        <p:blipFill>
          <a:blip r:embed="rId2"/>
          <a:stretch>
            <a:fillRect/>
          </a:stretch>
        </p:blipFill>
        <p:spPr>
          <a:xfrm>
            <a:off x="838200" y="1047750"/>
            <a:ext cx="9433870" cy="3420000"/>
          </a:xfrm>
          <a:prstGeom prst="rect">
            <a:avLst/>
          </a:prstGeom>
        </p:spPr>
      </p:pic>
    </p:spTree>
    <p:extLst>
      <p:ext uri="{BB962C8B-B14F-4D97-AF65-F5344CB8AC3E}">
        <p14:creationId xmlns:p14="http://schemas.microsoft.com/office/powerpoint/2010/main" val="19178641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C2D24-869F-BFE9-F87E-090CF4018BA3}"/>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6B4B328-1F37-5B47-EC4C-7074103EC792}"/>
              </a:ext>
            </a:extLst>
          </p:cNvPr>
          <p:cNvSpPr>
            <a:spLocks noGrp="1"/>
          </p:cNvSpPr>
          <p:nvPr>
            <p:ph idx="1"/>
          </p:nvPr>
        </p:nvSpPr>
        <p:spPr>
          <a:xfrm>
            <a:off x="838200" y="457199"/>
            <a:ext cx="10515600" cy="5719763"/>
          </a:xfrm>
        </p:spPr>
        <p:txBody>
          <a:bodyPr>
            <a:normAutofit/>
          </a:bodyPr>
          <a:lstStyle/>
          <a:p>
            <a:r>
              <a:rPr lang="en-US" b="1" i="1" dirty="0"/>
              <a:t>Campaign Effectiveness</a:t>
            </a:r>
          </a:p>
          <a:p>
            <a:pPr lvl="0"/>
            <a:endParaRPr lang="en-US" sz="2000" dirty="0"/>
          </a:p>
          <a:p>
            <a:pPr lvl="0"/>
            <a:endParaRPr lang="en-US" sz="2000" dirty="0"/>
          </a:p>
          <a:p>
            <a:pPr lvl="0"/>
            <a:endParaRPr lang="en-US" sz="2000" dirty="0"/>
          </a:p>
          <a:p>
            <a:pPr lvl="0"/>
            <a:endParaRPr lang="en-US" sz="2000" dirty="0"/>
          </a:p>
          <a:p>
            <a:pPr lvl="0"/>
            <a:endParaRPr lang="en-US" sz="2000" dirty="0"/>
          </a:p>
          <a:p>
            <a:pPr lvl="0"/>
            <a:endParaRPr lang="en-US" sz="2000" dirty="0"/>
          </a:p>
          <a:p>
            <a:pPr lvl="0"/>
            <a:endParaRPr lang="en-US" sz="2000" dirty="0"/>
          </a:p>
          <a:p>
            <a:pPr lvl="0"/>
            <a:endParaRPr lang="en-US" sz="2000" dirty="0"/>
          </a:p>
          <a:p>
            <a:pPr marL="0" lvl="0" indent="0">
              <a:buNone/>
            </a:pPr>
            <a:endParaRPr lang="en-US" sz="2000" dirty="0"/>
          </a:p>
        </p:txBody>
      </p:sp>
      <p:pic>
        <p:nvPicPr>
          <p:cNvPr id="3" name="Picture 2">
            <a:extLst>
              <a:ext uri="{FF2B5EF4-FFF2-40B4-BE49-F238E27FC236}">
                <a16:creationId xmlns:a16="http://schemas.microsoft.com/office/drawing/2014/main" id="{2CEDAE8B-A7DF-BFAA-FFDE-9BD87989ECAA}"/>
              </a:ext>
            </a:extLst>
          </p:cNvPr>
          <p:cNvPicPr>
            <a:picLocks noChangeAspect="1"/>
          </p:cNvPicPr>
          <p:nvPr/>
        </p:nvPicPr>
        <p:blipFill>
          <a:blip r:embed="rId2"/>
          <a:stretch>
            <a:fillRect/>
          </a:stretch>
        </p:blipFill>
        <p:spPr>
          <a:xfrm>
            <a:off x="838200" y="1052511"/>
            <a:ext cx="9995520" cy="3420000"/>
          </a:xfrm>
          <a:prstGeom prst="rect">
            <a:avLst/>
          </a:prstGeom>
        </p:spPr>
      </p:pic>
    </p:spTree>
    <p:extLst>
      <p:ext uri="{BB962C8B-B14F-4D97-AF65-F5344CB8AC3E}">
        <p14:creationId xmlns:p14="http://schemas.microsoft.com/office/powerpoint/2010/main" val="3413469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D6A35-FBD3-5FFF-52AE-C26556AEB41F}"/>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7988A126-DECB-88AC-A8E8-27F18E19616D}"/>
              </a:ext>
            </a:extLst>
          </p:cNvPr>
          <p:cNvSpPr>
            <a:spLocks noGrp="1"/>
          </p:cNvSpPr>
          <p:nvPr>
            <p:ph idx="1"/>
          </p:nvPr>
        </p:nvSpPr>
        <p:spPr>
          <a:xfrm>
            <a:off x="838200" y="457199"/>
            <a:ext cx="10515600" cy="5719763"/>
          </a:xfrm>
        </p:spPr>
        <p:txBody>
          <a:bodyPr>
            <a:normAutofit/>
          </a:bodyPr>
          <a:lstStyle/>
          <a:p>
            <a:r>
              <a:rPr lang="en-US" sz="3000" b="1" dirty="0">
                <a:solidFill>
                  <a:schemeClr val="accent2"/>
                </a:solidFill>
                <a:latin typeface="+mj-lt"/>
              </a:rPr>
              <a:t>Data Cleaning:</a:t>
            </a:r>
          </a:p>
          <a:p>
            <a:pPr marL="457200" indent="-457200">
              <a:buFont typeface="+mj-lt"/>
              <a:buAutoNum type="arabicPeriod"/>
            </a:pPr>
            <a:r>
              <a:rPr lang="en-US" sz="2000" b="1" dirty="0"/>
              <a:t>Duplicate Records</a:t>
            </a:r>
          </a:p>
          <a:p>
            <a:pPr lvl="0"/>
            <a:r>
              <a:rPr lang="en-US" sz="2000" b="1" dirty="0"/>
              <a:t>Issue:</a:t>
            </a:r>
            <a:r>
              <a:rPr lang="en-US" sz="2000" dirty="0"/>
              <a:t> Many applicants (</a:t>
            </a:r>
            <a:r>
              <a:rPr lang="en-US" sz="2000" dirty="0" err="1"/>
              <a:t>Reference_ID</a:t>
            </a:r>
            <a:r>
              <a:rPr lang="en-US" sz="2000" dirty="0"/>
              <a:t>) appear multiple times due to repeated outreach attempts. While some duplication is valid (different call attempts).</a:t>
            </a:r>
          </a:p>
          <a:p>
            <a:pPr lvl="0"/>
            <a:r>
              <a:rPr lang="en-US" sz="2000" b="1" dirty="0"/>
              <a:t>Solution:</a:t>
            </a:r>
            <a:r>
              <a:rPr lang="en-US" sz="2000" dirty="0"/>
              <a:t> Removed exact duplicate rows.</a:t>
            </a:r>
          </a:p>
          <a:p>
            <a:endParaRPr lang="en-US" sz="2000" dirty="0"/>
          </a:p>
          <a:p>
            <a:pPr marL="457200" indent="-457200">
              <a:buFont typeface="+mj-lt"/>
              <a:buAutoNum type="arabicPeriod" startAt="2"/>
            </a:pPr>
            <a:r>
              <a:rPr lang="en-US" sz="2000" b="1" dirty="0"/>
              <a:t>Call Outcomes (Outcome_1)</a:t>
            </a:r>
          </a:p>
          <a:p>
            <a:pPr lvl="0"/>
            <a:r>
              <a:rPr lang="en-US" sz="2000" b="1" dirty="0"/>
              <a:t>Issue:</a:t>
            </a:r>
            <a:r>
              <a:rPr lang="en-US" sz="2000" dirty="0"/>
              <a:t> Some call outcomes are too detailed or inconsistent (e.g., “Student has the needed…”, “Will confirm later”).</a:t>
            </a:r>
          </a:p>
          <a:p>
            <a:r>
              <a:rPr lang="en-US" sz="2000" b="1" dirty="0"/>
              <a:t>Solution:</a:t>
            </a:r>
            <a:r>
              <a:rPr lang="en-US" sz="2000" dirty="0"/>
              <a:t> Grouped outcomes into broader standardized categories.</a:t>
            </a:r>
          </a:p>
          <a:p>
            <a:endParaRPr lang="en-US" sz="2000" dirty="0"/>
          </a:p>
          <a:p>
            <a:pPr marL="0" indent="0">
              <a:buNone/>
            </a:pPr>
            <a:endParaRPr lang="en-US" sz="2000" dirty="0"/>
          </a:p>
          <a:p>
            <a:pPr lvl="0"/>
            <a:endParaRPr lang="en-US" sz="2000" dirty="0"/>
          </a:p>
        </p:txBody>
      </p:sp>
    </p:spTree>
    <p:extLst>
      <p:ext uri="{BB962C8B-B14F-4D97-AF65-F5344CB8AC3E}">
        <p14:creationId xmlns:p14="http://schemas.microsoft.com/office/powerpoint/2010/main" val="2001703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01CB7-940D-EAC9-1C90-33851101DA70}"/>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BEC3E4D3-9CD6-E09A-13A0-C1895ECDDD4C}"/>
              </a:ext>
            </a:extLst>
          </p:cNvPr>
          <p:cNvSpPr>
            <a:spLocks noGrp="1"/>
          </p:cNvSpPr>
          <p:nvPr>
            <p:ph idx="1"/>
          </p:nvPr>
        </p:nvSpPr>
        <p:spPr>
          <a:xfrm>
            <a:off x="838200" y="457199"/>
            <a:ext cx="10515600" cy="5719763"/>
          </a:xfrm>
        </p:spPr>
        <p:txBody>
          <a:bodyPr>
            <a:normAutofit/>
          </a:bodyPr>
          <a:lstStyle/>
          <a:p>
            <a:r>
              <a:rPr lang="en-US" sz="3000" b="1" dirty="0">
                <a:solidFill>
                  <a:schemeClr val="accent2"/>
                </a:solidFill>
                <a:latin typeface="+mj-lt"/>
              </a:rPr>
              <a:t>Exploratory Data Analysis:</a:t>
            </a:r>
            <a:endParaRPr lang="en-US" sz="3000" b="1" dirty="0">
              <a:latin typeface="+mj-lt"/>
            </a:endParaRPr>
          </a:p>
          <a:p>
            <a:r>
              <a:rPr lang="en-US" b="1" dirty="0"/>
              <a:t>Campaign Dataset:</a:t>
            </a:r>
            <a:endParaRPr lang="en-US" b="1" i="1" dirty="0"/>
          </a:p>
          <a:p>
            <a:r>
              <a:rPr lang="en-US" sz="2000" b="1" i="1" dirty="0"/>
              <a:t>Campaign Categories</a:t>
            </a:r>
          </a:p>
          <a:p>
            <a:endParaRPr lang="en-US" b="1" i="1" dirty="0"/>
          </a:p>
          <a:p>
            <a:endParaRPr lang="en-US" b="1" i="1" dirty="0"/>
          </a:p>
          <a:p>
            <a:endParaRPr lang="en-US" b="1" i="1" dirty="0"/>
          </a:p>
          <a:p>
            <a:endParaRPr lang="en-US" b="1" i="1" dirty="0"/>
          </a:p>
          <a:p>
            <a:endParaRPr lang="en-US" b="1" i="1" dirty="0"/>
          </a:p>
          <a:p>
            <a:endParaRPr lang="en-US" b="1" i="1" dirty="0"/>
          </a:p>
          <a:p>
            <a:pPr marL="0" indent="0">
              <a:buNone/>
            </a:pPr>
            <a:endParaRPr lang="en-US" b="1" i="1" dirty="0"/>
          </a:p>
          <a:p>
            <a:endParaRPr lang="en-US" sz="2400" dirty="0"/>
          </a:p>
          <a:p>
            <a:pPr marL="0" indent="0">
              <a:buNone/>
            </a:pPr>
            <a:endParaRPr lang="en-US" sz="2000" dirty="0"/>
          </a:p>
        </p:txBody>
      </p:sp>
      <p:pic>
        <p:nvPicPr>
          <p:cNvPr id="3" name="Picture 2">
            <a:extLst>
              <a:ext uri="{FF2B5EF4-FFF2-40B4-BE49-F238E27FC236}">
                <a16:creationId xmlns:a16="http://schemas.microsoft.com/office/drawing/2014/main" id="{98B58FFF-EEEC-817A-7BE6-E59F7D36AEFD}"/>
              </a:ext>
            </a:extLst>
          </p:cNvPr>
          <p:cNvPicPr>
            <a:picLocks noChangeAspect="1"/>
          </p:cNvPicPr>
          <p:nvPr/>
        </p:nvPicPr>
        <p:blipFill>
          <a:blip r:embed="rId2"/>
          <a:stretch>
            <a:fillRect/>
          </a:stretch>
        </p:blipFill>
        <p:spPr>
          <a:xfrm>
            <a:off x="4646294" y="1371600"/>
            <a:ext cx="6707506" cy="4114799"/>
          </a:xfrm>
          <a:prstGeom prst="rect">
            <a:avLst/>
          </a:prstGeom>
        </p:spPr>
      </p:pic>
    </p:spTree>
    <p:extLst>
      <p:ext uri="{BB962C8B-B14F-4D97-AF65-F5344CB8AC3E}">
        <p14:creationId xmlns:p14="http://schemas.microsoft.com/office/powerpoint/2010/main" val="18294701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718A5-1BA9-F1C6-46BC-079836EB3A24}"/>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3D0BD1C0-07E8-A57B-1CE4-6F8373E5D4A7}"/>
              </a:ext>
            </a:extLst>
          </p:cNvPr>
          <p:cNvSpPr>
            <a:spLocks noGrp="1"/>
          </p:cNvSpPr>
          <p:nvPr>
            <p:ph idx="1"/>
          </p:nvPr>
        </p:nvSpPr>
        <p:spPr>
          <a:xfrm>
            <a:off x="838200" y="457199"/>
            <a:ext cx="10515600" cy="5719763"/>
          </a:xfrm>
        </p:spPr>
        <p:txBody>
          <a:bodyPr>
            <a:normAutofit/>
          </a:bodyPr>
          <a:lstStyle/>
          <a:p>
            <a:r>
              <a:rPr lang="en-US" sz="3000" b="1" dirty="0">
                <a:solidFill>
                  <a:schemeClr val="accent2"/>
                </a:solidFill>
                <a:latin typeface="+mj-lt"/>
              </a:rPr>
              <a:t>Data Cleaning:</a:t>
            </a:r>
          </a:p>
          <a:p>
            <a:r>
              <a:rPr lang="en-US" sz="2000" b="1" dirty="0"/>
              <a:t>1. Campaign IDs (ID)</a:t>
            </a:r>
          </a:p>
          <a:p>
            <a:pPr lvl="0"/>
            <a:r>
              <a:rPr lang="en-US" sz="2000" b="1" dirty="0"/>
              <a:t>Issue:</a:t>
            </a:r>
            <a:r>
              <a:rPr lang="en-US" sz="2000" dirty="0"/>
              <a:t> All 23 campaigns had unique IDs, but some contained a mix of upper/lowercase or extra spaces.</a:t>
            </a:r>
          </a:p>
          <a:p>
            <a:pPr lvl="0"/>
            <a:r>
              <a:rPr lang="en-US" sz="2000" b="1" dirty="0"/>
              <a:t>Solution.</a:t>
            </a:r>
            <a:r>
              <a:rPr lang="en-US" sz="2000" dirty="0"/>
              <a:t> </a:t>
            </a:r>
          </a:p>
          <a:p>
            <a:pPr lvl="0"/>
            <a:r>
              <a:rPr lang="en-US" sz="2000" b="1" dirty="0"/>
              <a:t>7. Start Date (</a:t>
            </a:r>
            <a:r>
              <a:rPr lang="en-US" sz="2000" b="1" dirty="0" err="1"/>
              <a:t>Start_Date</a:t>
            </a:r>
            <a:r>
              <a:rPr lang="en-US" sz="2000" b="1" dirty="0"/>
              <a:t>)</a:t>
            </a:r>
          </a:p>
          <a:p>
            <a:pPr lvl="0"/>
            <a:r>
              <a:rPr lang="en-US" sz="2000" b="1" dirty="0"/>
              <a:t>Issue:</a:t>
            </a:r>
            <a:r>
              <a:rPr lang="en-US" sz="2000" dirty="0"/>
              <a:t> Dates were stored as text in inconsistent formats (e.g., 3/20/2024 0:00, 9/11/2024 00:00).</a:t>
            </a:r>
          </a:p>
          <a:p>
            <a:pPr lvl="0"/>
            <a:r>
              <a:rPr lang="en-US" sz="2000" b="1" dirty="0"/>
              <a:t>Solution.</a:t>
            </a:r>
            <a:endParaRPr lang="en-US" sz="2000" dirty="0"/>
          </a:p>
          <a:p>
            <a:pPr lvl="0"/>
            <a:r>
              <a:rPr lang="en-US" sz="3000" b="1" dirty="0">
                <a:solidFill>
                  <a:schemeClr val="accent2"/>
                </a:solidFill>
                <a:latin typeface="+mj-lt"/>
              </a:rPr>
              <a:t>Master Table Creation:</a:t>
            </a:r>
          </a:p>
          <a:p>
            <a:pPr lvl="0"/>
            <a:r>
              <a:rPr lang="en-US" sz="2000" dirty="0"/>
              <a:t>To integrate all three datasets (</a:t>
            </a:r>
            <a:r>
              <a:rPr lang="en-US" sz="2000" b="1" dirty="0" err="1"/>
              <a:t>ApplicantData</a:t>
            </a:r>
            <a:r>
              <a:rPr lang="en-US" sz="2000" b="1" dirty="0"/>
              <a:t>, </a:t>
            </a:r>
            <a:r>
              <a:rPr lang="en-US" sz="2000" b="1" dirty="0" err="1"/>
              <a:t>OutreachData</a:t>
            </a:r>
            <a:r>
              <a:rPr lang="en-US" sz="2000" b="1" dirty="0"/>
              <a:t>, and </a:t>
            </a:r>
            <a:r>
              <a:rPr lang="en-US" sz="2000" b="1" dirty="0" err="1"/>
              <a:t>CampaignData</a:t>
            </a:r>
            <a:r>
              <a:rPr lang="en-US" sz="2000" dirty="0"/>
              <a:t>) into a unified structure, a </a:t>
            </a:r>
            <a:r>
              <a:rPr lang="en-US" sz="2000" b="1" dirty="0"/>
              <a:t>Master Table</a:t>
            </a:r>
            <a:r>
              <a:rPr lang="en-US" sz="2000" dirty="0"/>
              <a:t> was created in PostgreSQL. This table provides an end-to-end view of each applicant’s journey, linking their application details with outreach attempts and campaign information.</a:t>
            </a:r>
            <a:endParaRPr lang="en-US" sz="2000" b="1" dirty="0">
              <a:solidFill>
                <a:schemeClr val="accent2"/>
              </a:solidFill>
            </a:endParaRPr>
          </a:p>
          <a:p>
            <a:pPr lvl="0"/>
            <a:endParaRPr lang="en-US" sz="2000" dirty="0"/>
          </a:p>
          <a:p>
            <a:pPr marL="0" indent="0">
              <a:buNone/>
            </a:pPr>
            <a:endParaRPr lang="en-US" sz="2400" dirty="0"/>
          </a:p>
        </p:txBody>
      </p:sp>
    </p:spTree>
    <p:extLst>
      <p:ext uri="{BB962C8B-B14F-4D97-AF65-F5344CB8AC3E}">
        <p14:creationId xmlns:p14="http://schemas.microsoft.com/office/powerpoint/2010/main" val="939818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3428A-F612-B5FE-C078-B2F1AA051667}"/>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D6ADFFBD-5FDD-2AA3-A35A-903FDEBE25FF}"/>
              </a:ext>
            </a:extLst>
          </p:cNvPr>
          <p:cNvSpPr>
            <a:spLocks noGrp="1"/>
          </p:cNvSpPr>
          <p:nvPr>
            <p:ph idx="1"/>
          </p:nvPr>
        </p:nvSpPr>
        <p:spPr>
          <a:xfrm>
            <a:off x="838200" y="457199"/>
            <a:ext cx="10515600" cy="6138154"/>
          </a:xfrm>
        </p:spPr>
        <p:txBody>
          <a:bodyPr>
            <a:normAutofit/>
          </a:bodyPr>
          <a:lstStyle/>
          <a:p>
            <a:pPr marL="0" lvl="0" indent="0">
              <a:buNone/>
            </a:pPr>
            <a:r>
              <a:rPr lang="en-US" sz="3000" b="1" dirty="0">
                <a:solidFill>
                  <a:schemeClr val="accent2"/>
                </a:solidFill>
                <a:latin typeface="+mj-lt"/>
              </a:rPr>
              <a:t>Data Connection:</a:t>
            </a:r>
          </a:p>
          <a:p>
            <a:r>
              <a:rPr lang="en-US" sz="2000" dirty="0"/>
              <a:t>connecting via </a:t>
            </a:r>
            <a:r>
              <a:rPr lang="en-US" sz="2000" dirty="0" err="1"/>
              <a:t>Supabase</a:t>
            </a:r>
            <a:r>
              <a:rPr lang="en-US" sz="2000" dirty="0"/>
              <a:t>, and Successfully tested static connection through Looker Studio (CSV upload).</a:t>
            </a:r>
          </a:p>
        </p:txBody>
      </p:sp>
      <p:pic>
        <p:nvPicPr>
          <p:cNvPr id="4" name="Picture 3">
            <a:extLst>
              <a:ext uri="{FF2B5EF4-FFF2-40B4-BE49-F238E27FC236}">
                <a16:creationId xmlns:a16="http://schemas.microsoft.com/office/drawing/2014/main" id="{29F7B981-BAA8-D79A-AFF8-B5CA386F5FDA}"/>
              </a:ext>
            </a:extLst>
          </p:cNvPr>
          <p:cNvPicPr>
            <a:picLocks noChangeAspect="1"/>
          </p:cNvPicPr>
          <p:nvPr/>
        </p:nvPicPr>
        <p:blipFill>
          <a:blip r:embed="rId2"/>
          <a:stretch>
            <a:fillRect/>
          </a:stretch>
        </p:blipFill>
        <p:spPr>
          <a:xfrm>
            <a:off x="1413753" y="1979578"/>
            <a:ext cx="9940047" cy="3415382"/>
          </a:xfrm>
          <a:prstGeom prst="rect">
            <a:avLst/>
          </a:prstGeom>
        </p:spPr>
      </p:pic>
    </p:spTree>
    <p:extLst>
      <p:ext uri="{BB962C8B-B14F-4D97-AF65-F5344CB8AC3E}">
        <p14:creationId xmlns:p14="http://schemas.microsoft.com/office/powerpoint/2010/main" val="1215956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1DF38-24F7-A66C-950C-DDE8EAEFBF44}"/>
              </a:ext>
            </a:extLst>
          </p:cNvPr>
          <p:cNvSpPr>
            <a:spLocks noGrp="1"/>
          </p:cNvSpPr>
          <p:nvPr>
            <p:ph type="title"/>
          </p:nvPr>
        </p:nvSpPr>
        <p:spPr>
          <a:xfrm>
            <a:off x="838200" y="323984"/>
            <a:ext cx="10515600" cy="1325563"/>
          </a:xfrm>
        </p:spPr>
        <p:txBody>
          <a:bodyPr>
            <a:normAutofit fontScale="90000"/>
          </a:bodyPr>
          <a:lstStyle/>
          <a:p>
            <a:r>
              <a:rPr lang="en-US" sz="3300" b="1" dirty="0">
                <a:solidFill>
                  <a:schemeClr val="accent2"/>
                </a:solidFill>
              </a:rPr>
              <a:t>Data Consistency and Validation:</a:t>
            </a:r>
            <a:br>
              <a:rPr lang="en-US" sz="2000" b="1" dirty="0"/>
            </a:br>
            <a:br>
              <a:rPr lang="en-US" sz="2000" dirty="0"/>
            </a:br>
            <a:r>
              <a:rPr lang="en-US" sz="2000" dirty="0">
                <a:latin typeface="+mn-lt"/>
              </a:rPr>
              <a:t>Here we have 2 queries, verifying that data types and formats (e.g., dates, numeric fields) are consistent across all tables.</a:t>
            </a:r>
            <a:endParaRPr lang="en-US" sz="1800" dirty="0">
              <a:latin typeface="+mn-lt"/>
            </a:endParaRPr>
          </a:p>
        </p:txBody>
      </p:sp>
      <p:pic>
        <p:nvPicPr>
          <p:cNvPr id="5" name="Content Placeholder 4">
            <a:extLst>
              <a:ext uri="{FF2B5EF4-FFF2-40B4-BE49-F238E27FC236}">
                <a16:creationId xmlns:a16="http://schemas.microsoft.com/office/drawing/2014/main" id="{7D12EB24-AEB1-8C01-ED66-A998AFE50E1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935480"/>
            <a:ext cx="5105400" cy="4500564"/>
          </a:xfrm>
        </p:spPr>
      </p:pic>
      <p:pic>
        <p:nvPicPr>
          <p:cNvPr id="7" name="Picture 6">
            <a:extLst>
              <a:ext uri="{FF2B5EF4-FFF2-40B4-BE49-F238E27FC236}">
                <a16:creationId xmlns:a16="http://schemas.microsoft.com/office/drawing/2014/main" id="{AA9964B1-BEB2-D268-47DD-5CD25456E0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8400" y="1935480"/>
            <a:ext cx="5105400" cy="4500564"/>
          </a:xfrm>
          <a:prstGeom prst="rect">
            <a:avLst/>
          </a:prstGeom>
        </p:spPr>
      </p:pic>
    </p:spTree>
    <p:extLst>
      <p:ext uri="{BB962C8B-B14F-4D97-AF65-F5344CB8AC3E}">
        <p14:creationId xmlns:p14="http://schemas.microsoft.com/office/powerpoint/2010/main" val="7931142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B1841-AE34-3FD9-CA37-5B1DF4D5E9E6}"/>
              </a:ext>
            </a:extLst>
          </p:cNvPr>
          <p:cNvSpPr>
            <a:spLocks noGrp="1"/>
          </p:cNvSpPr>
          <p:nvPr>
            <p:ph type="title"/>
          </p:nvPr>
        </p:nvSpPr>
        <p:spPr>
          <a:xfrm>
            <a:off x="838200" y="334994"/>
            <a:ext cx="10512000" cy="1332000"/>
          </a:xfrm>
        </p:spPr>
        <p:txBody>
          <a:bodyPr>
            <a:normAutofit/>
          </a:bodyPr>
          <a:lstStyle/>
          <a:p>
            <a:r>
              <a:rPr lang="en-US" sz="3000" b="1" dirty="0">
                <a:solidFill>
                  <a:schemeClr val="accent2"/>
                </a:solidFill>
              </a:rPr>
              <a:t>Data Consistency and Validation:</a:t>
            </a:r>
            <a:br>
              <a:rPr lang="en-US" sz="2000" b="1" dirty="0"/>
            </a:br>
            <a:br>
              <a:rPr lang="en-US" sz="2000" dirty="0">
                <a:latin typeface="+mn-lt"/>
              </a:rPr>
            </a:br>
            <a:r>
              <a:rPr lang="en-US" sz="2000" dirty="0">
                <a:latin typeface="+mn-lt"/>
              </a:rPr>
              <a:t>Here we have 2 select queries, ensuring that key identifiers like Applicant IDs or Campaign IDs match across related tables (</a:t>
            </a:r>
            <a:r>
              <a:rPr lang="en-US" sz="2000" dirty="0" err="1">
                <a:latin typeface="+mn-lt"/>
              </a:rPr>
              <a:t>Outraech_Data</a:t>
            </a:r>
            <a:r>
              <a:rPr lang="en-US" sz="2000" dirty="0">
                <a:latin typeface="+mn-lt"/>
              </a:rPr>
              <a:t>), all good ( 0 Rows ).</a:t>
            </a:r>
            <a:endParaRPr lang="en-US" sz="1800" dirty="0">
              <a:latin typeface="+mn-lt"/>
            </a:endParaRPr>
          </a:p>
        </p:txBody>
      </p:sp>
      <p:pic>
        <p:nvPicPr>
          <p:cNvPr id="5" name="Content Placeholder 4">
            <a:extLst>
              <a:ext uri="{FF2B5EF4-FFF2-40B4-BE49-F238E27FC236}">
                <a16:creationId xmlns:a16="http://schemas.microsoft.com/office/drawing/2014/main" id="{CF3AF900-9FA5-C5AC-B048-3ABF801CC83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995442"/>
            <a:ext cx="5112000" cy="4527564"/>
          </a:xfrm>
        </p:spPr>
      </p:pic>
      <p:pic>
        <p:nvPicPr>
          <p:cNvPr id="7" name="Picture 6">
            <a:extLst>
              <a:ext uri="{FF2B5EF4-FFF2-40B4-BE49-F238E27FC236}">
                <a16:creationId xmlns:a16="http://schemas.microsoft.com/office/drawing/2014/main" id="{9F8D8342-0B25-6B39-AF21-39E283F476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4200" y="1995442"/>
            <a:ext cx="5112000" cy="4527564"/>
          </a:xfrm>
          <a:prstGeom prst="rect">
            <a:avLst/>
          </a:prstGeom>
        </p:spPr>
      </p:pic>
    </p:spTree>
    <p:extLst>
      <p:ext uri="{BB962C8B-B14F-4D97-AF65-F5344CB8AC3E}">
        <p14:creationId xmlns:p14="http://schemas.microsoft.com/office/powerpoint/2010/main" val="8197394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8EBF6F1-6C61-59DE-66A9-94081FDB76DA}"/>
              </a:ext>
            </a:extLst>
          </p:cNvPr>
          <p:cNvSpPr>
            <a:spLocks noGrp="1"/>
          </p:cNvSpPr>
          <p:nvPr>
            <p:ph type="title"/>
          </p:nvPr>
        </p:nvSpPr>
        <p:spPr>
          <a:xfrm>
            <a:off x="838200" y="131444"/>
            <a:ext cx="10512000" cy="1332000"/>
          </a:xfrm>
        </p:spPr>
        <p:txBody>
          <a:bodyPr>
            <a:normAutofit/>
          </a:bodyPr>
          <a:lstStyle/>
          <a:p>
            <a:r>
              <a:rPr lang="en-US" sz="2000" dirty="0">
                <a:latin typeface="+mn-lt"/>
              </a:rPr>
              <a:t>Then we have 2 queries to ensure that the Applicant count and Campaign count in the database match the dashboard, with no discrepancies.</a:t>
            </a:r>
          </a:p>
        </p:txBody>
      </p:sp>
      <p:pic>
        <p:nvPicPr>
          <p:cNvPr id="5" name="Content Placeholder 4">
            <a:extLst>
              <a:ext uri="{FF2B5EF4-FFF2-40B4-BE49-F238E27FC236}">
                <a16:creationId xmlns:a16="http://schemas.microsoft.com/office/drawing/2014/main" id="{2BBDB3B7-CE7F-48EB-EDB9-47F84133143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38199" y="2926079"/>
            <a:ext cx="5112000" cy="3335669"/>
          </a:xfrm>
          <a:prstGeom prst="rect">
            <a:avLst/>
          </a:prstGeom>
        </p:spPr>
      </p:pic>
      <p:pic>
        <p:nvPicPr>
          <p:cNvPr id="6" name="Picture 5">
            <a:extLst>
              <a:ext uri="{FF2B5EF4-FFF2-40B4-BE49-F238E27FC236}">
                <a16:creationId xmlns:a16="http://schemas.microsoft.com/office/drawing/2014/main" id="{E6DE73CF-2118-27D9-0C55-38F80B1623B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4200" y="1734185"/>
            <a:ext cx="5112000" cy="4527564"/>
          </a:xfrm>
          <a:prstGeom prst="rect">
            <a:avLst/>
          </a:prstGeom>
        </p:spPr>
      </p:pic>
      <p:pic>
        <p:nvPicPr>
          <p:cNvPr id="42" name="Picture 41">
            <a:extLst>
              <a:ext uri="{FF2B5EF4-FFF2-40B4-BE49-F238E27FC236}">
                <a16:creationId xmlns:a16="http://schemas.microsoft.com/office/drawing/2014/main" id="{A20AA6DF-E26B-6969-99C5-E76C0D8BAD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199" y="1734185"/>
            <a:ext cx="3421677" cy="1104996"/>
          </a:xfrm>
          <a:prstGeom prst="rect">
            <a:avLst/>
          </a:prstGeom>
        </p:spPr>
      </p:pic>
      <mc:AlternateContent xmlns:mc="http://schemas.openxmlformats.org/markup-compatibility/2006" xmlns:p14="http://schemas.microsoft.com/office/powerpoint/2010/main">
        <mc:Choice Requires="p14">
          <p:contentPart p14:bwMode="auto" r:id="rId5">
            <p14:nvContentPartPr>
              <p14:cNvPr id="49" name="Ink 48">
                <a:extLst>
                  <a:ext uri="{FF2B5EF4-FFF2-40B4-BE49-F238E27FC236}">
                    <a16:creationId xmlns:a16="http://schemas.microsoft.com/office/drawing/2014/main" id="{D3D51691-FE80-1609-52C8-3A74207639B5}"/>
                  </a:ext>
                </a:extLst>
              </p14:cNvPr>
              <p14:cNvContentPartPr/>
              <p14:nvPr/>
            </p14:nvContentPartPr>
            <p14:xfrm>
              <a:off x="890012" y="6032360"/>
              <a:ext cx="1328136" cy="364360"/>
            </p14:xfrm>
          </p:contentPart>
        </mc:Choice>
        <mc:Fallback xmlns="">
          <p:pic>
            <p:nvPicPr>
              <p:cNvPr id="49" name="Ink 48">
                <a:extLst>
                  <a:ext uri="{FF2B5EF4-FFF2-40B4-BE49-F238E27FC236}">
                    <a16:creationId xmlns:a16="http://schemas.microsoft.com/office/drawing/2014/main" id="{D3D51691-FE80-1609-52C8-3A74207639B5}"/>
                  </a:ext>
                </a:extLst>
              </p:cNvPr>
              <p:cNvPicPr/>
              <p:nvPr/>
            </p:nvPicPr>
            <p:blipFill>
              <a:blip r:embed="rId6"/>
              <a:stretch>
                <a:fillRect/>
              </a:stretch>
            </p:blipFill>
            <p:spPr>
              <a:xfrm>
                <a:off x="872371" y="6014358"/>
                <a:ext cx="1363779" cy="400004"/>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3" name="Ink 52">
                <a:extLst>
                  <a:ext uri="{FF2B5EF4-FFF2-40B4-BE49-F238E27FC236}">
                    <a16:creationId xmlns:a16="http://schemas.microsoft.com/office/drawing/2014/main" id="{1F5D7744-03E9-734C-5AFF-7B07D1A3BCD1}"/>
                  </a:ext>
                </a:extLst>
              </p14:cNvPr>
              <p14:cNvContentPartPr/>
              <p14:nvPr/>
            </p14:nvContentPartPr>
            <p14:xfrm>
              <a:off x="6098800" y="5922480"/>
              <a:ext cx="585000" cy="377280"/>
            </p14:xfrm>
          </p:contentPart>
        </mc:Choice>
        <mc:Fallback xmlns="">
          <p:pic>
            <p:nvPicPr>
              <p:cNvPr id="53" name="Ink 52">
                <a:extLst>
                  <a:ext uri="{FF2B5EF4-FFF2-40B4-BE49-F238E27FC236}">
                    <a16:creationId xmlns:a16="http://schemas.microsoft.com/office/drawing/2014/main" id="{1F5D7744-03E9-734C-5AFF-7B07D1A3BCD1}"/>
                  </a:ext>
                </a:extLst>
              </p:cNvPr>
              <p:cNvPicPr/>
              <p:nvPr/>
            </p:nvPicPr>
            <p:blipFill>
              <a:blip r:embed="rId8"/>
              <a:stretch>
                <a:fillRect/>
              </a:stretch>
            </p:blipFill>
            <p:spPr>
              <a:xfrm>
                <a:off x="6080800" y="5904480"/>
                <a:ext cx="620640" cy="4129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 name="Ink 56">
                <a:extLst>
                  <a:ext uri="{FF2B5EF4-FFF2-40B4-BE49-F238E27FC236}">
                    <a16:creationId xmlns:a16="http://schemas.microsoft.com/office/drawing/2014/main" id="{008B5901-0CD6-D7C4-0360-51A014FC22A5}"/>
                  </a:ext>
                </a:extLst>
              </p14:cNvPr>
              <p14:cNvContentPartPr/>
              <p14:nvPr/>
            </p14:nvContentPartPr>
            <p14:xfrm>
              <a:off x="709892" y="1534785"/>
              <a:ext cx="4130804" cy="1256322"/>
            </p14:xfrm>
          </p:contentPart>
        </mc:Choice>
        <mc:Fallback xmlns="">
          <p:pic>
            <p:nvPicPr>
              <p:cNvPr id="57" name="Ink 56">
                <a:extLst>
                  <a:ext uri="{FF2B5EF4-FFF2-40B4-BE49-F238E27FC236}">
                    <a16:creationId xmlns:a16="http://schemas.microsoft.com/office/drawing/2014/main" id="{008B5901-0CD6-D7C4-0360-51A014FC22A5}"/>
                  </a:ext>
                </a:extLst>
              </p:cNvPr>
              <p:cNvPicPr/>
              <p:nvPr/>
            </p:nvPicPr>
            <p:blipFill>
              <a:blip r:embed="rId10"/>
              <a:stretch>
                <a:fillRect/>
              </a:stretch>
            </p:blipFill>
            <p:spPr>
              <a:xfrm>
                <a:off x="691891" y="1516781"/>
                <a:ext cx="4166445" cy="1291970"/>
              </a:xfrm>
              <a:prstGeom prst="rect">
                <a:avLst/>
              </a:prstGeom>
            </p:spPr>
          </p:pic>
        </mc:Fallback>
      </mc:AlternateContent>
    </p:spTree>
    <p:extLst>
      <p:ext uri="{BB962C8B-B14F-4D97-AF65-F5344CB8AC3E}">
        <p14:creationId xmlns:p14="http://schemas.microsoft.com/office/powerpoint/2010/main" val="2159857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F6FBA-5E18-3537-C7E2-34F57D5F0D4B}"/>
              </a:ext>
            </a:extLst>
          </p:cNvPr>
          <p:cNvSpPr>
            <a:spLocks noGrp="1"/>
          </p:cNvSpPr>
          <p:nvPr>
            <p:ph type="title"/>
          </p:nvPr>
        </p:nvSpPr>
        <p:spPr/>
        <p:txBody>
          <a:bodyPr>
            <a:normAutofit/>
          </a:bodyPr>
          <a:lstStyle/>
          <a:p>
            <a:r>
              <a:rPr lang="en-US" sz="2000" dirty="0">
                <a:latin typeface="+mn-lt"/>
              </a:rPr>
              <a:t>Here we have 2 select queries to ensure there are no duplicate records.</a:t>
            </a:r>
            <a:br>
              <a:rPr lang="en-US" sz="2000" dirty="0">
                <a:latin typeface="+mn-lt"/>
              </a:rPr>
            </a:br>
            <a:r>
              <a:rPr lang="en-US" sz="2000" dirty="0">
                <a:latin typeface="+mn-lt"/>
              </a:rPr>
              <a:t>Result: ( 0 rows ) ( No Duplicates ).</a:t>
            </a:r>
            <a:br>
              <a:rPr lang="en-US" sz="2000" dirty="0">
                <a:latin typeface="+mn-lt"/>
              </a:rPr>
            </a:br>
            <a:endParaRPr lang="en-US" sz="2000" dirty="0">
              <a:latin typeface="+mn-lt"/>
            </a:endParaRPr>
          </a:p>
        </p:txBody>
      </p:sp>
      <p:pic>
        <p:nvPicPr>
          <p:cNvPr id="6" name="Content Placeholder 4">
            <a:extLst>
              <a:ext uri="{FF2B5EF4-FFF2-40B4-BE49-F238E27FC236}">
                <a16:creationId xmlns:a16="http://schemas.microsoft.com/office/drawing/2014/main" id="{6C6FE58D-5CE4-9AFF-6678-CE7195BB290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838200" y="1832928"/>
            <a:ext cx="5146038" cy="4527564"/>
          </a:xfrm>
        </p:spPr>
      </p:pic>
      <p:pic>
        <p:nvPicPr>
          <p:cNvPr id="7" name="Picture 6">
            <a:extLst>
              <a:ext uri="{FF2B5EF4-FFF2-40B4-BE49-F238E27FC236}">
                <a16:creationId xmlns:a16="http://schemas.microsoft.com/office/drawing/2014/main" id="{AD3763FD-C133-CDC0-5F59-E0F3B4528CE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207764" y="1832928"/>
            <a:ext cx="5146036" cy="4527564"/>
          </a:xfrm>
          <a:prstGeom prst="rect">
            <a:avLst/>
          </a:prstGeom>
        </p:spPr>
      </p:pic>
    </p:spTree>
    <p:extLst>
      <p:ext uri="{BB962C8B-B14F-4D97-AF65-F5344CB8AC3E}">
        <p14:creationId xmlns:p14="http://schemas.microsoft.com/office/powerpoint/2010/main" val="2137627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1D925-B516-DDDA-F5B6-83A5DAAFA8C1}"/>
              </a:ext>
            </a:extLst>
          </p:cNvPr>
          <p:cNvSpPr>
            <a:spLocks noGrp="1"/>
          </p:cNvSpPr>
          <p:nvPr>
            <p:ph type="title"/>
          </p:nvPr>
        </p:nvSpPr>
        <p:spPr>
          <a:xfrm>
            <a:off x="838200" y="218607"/>
            <a:ext cx="10515600" cy="1984602"/>
          </a:xfrm>
        </p:spPr>
        <p:txBody>
          <a:bodyPr>
            <a:normAutofit/>
          </a:bodyPr>
          <a:lstStyle/>
          <a:p>
            <a:r>
              <a:rPr lang="en-US" sz="2000" dirty="0">
                <a:latin typeface="+mn-lt"/>
              </a:rPr>
              <a:t>Here we have 2 queries to search more extensively for invalid data.</a:t>
            </a:r>
          </a:p>
        </p:txBody>
      </p:sp>
      <p:pic>
        <p:nvPicPr>
          <p:cNvPr id="4" name="Content Placeholder 4">
            <a:extLst>
              <a:ext uri="{FF2B5EF4-FFF2-40B4-BE49-F238E27FC236}">
                <a16:creationId xmlns:a16="http://schemas.microsoft.com/office/drawing/2014/main" id="{737F05CA-199A-776F-0B04-98E64E9EE40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740227" y="2156265"/>
            <a:ext cx="5146038" cy="4527564"/>
          </a:xfrm>
        </p:spPr>
      </p:pic>
      <p:pic>
        <p:nvPicPr>
          <p:cNvPr id="5" name="Picture 4">
            <a:extLst>
              <a:ext uri="{FF2B5EF4-FFF2-40B4-BE49-F238E27FC236}">
                <a16:creationId xmlns:a16="http://schemas.microsoft.com/office/drawing/2014/main" id="{8D08C948-331A-0E61-2AE0-A6E6AC9D1DD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207764" y="2156265"/>
            <a:ext cx="5146036" cy="4527564"/>
          </a:xfrm>
          <a:prstGeom prst="rect">
            <a:avLst/>
          </a:prstGeom>
        </p:spPr>
      </p:pic>
    </p:spTree>
    <p:extLst>
      <p:ext uri="{BB962C8B-B14F-4D97-AF65-F5344CB8AC3E}">
        <p14:creationId xmlns:p14="http://schemas.microsoft.com/office/powerpoint/2010/main" val="29446106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2FBD9-5E65-59E0-65BD-A6007EC9333D}"/>
              </a:ext>
            </a:extLst>
          </p:cNvPr>
          <p:cNvSpPr>
            <a:spLocks noGrp="1"/>
          </p:cNvSpPr>
          <p:nvPr>
            <p:ph type="title"/>
          </p:nvPr>
        </p:nvSpPr>
        <p:spPr>
          <a:xfrm>
            <a:off x="838200" y="365125"/>
            <a:ext cx="10515600" cy="1858963"/>
          </a:xfrm>
        </p:spPr>
        <p:txBody>
          <a:bodyPr>
            <a:noAutofit/>
          </a:bodyPr>
          <a:lstStyle/>
          <a:p>
            <a:pPr>
              <a:lnSpc>
                <a:spcPct val="100000"/>
              </a:lnSpc>
            </a:pPr>
            <a:r>
              <a:rPr lang="en-US" sz="2000" dirty="0">
                <a:latin typeface="+mn-lt"/>
              </a:rPr>
              <a:t>Here we have 2 queries, that shows there are calls attached to campaigns that hasn’t started yet!</a:t>
            </a:r>
          </a:p>
        </p:txBody>
      </p:sp>
      <p:pic>
        <p:nvPicPr>
          <p:cNvPr id="4" name="Content Placeholder 4">
            <a:extLst>
              <a:ext uri="{FF2B5EF4-FFF2-40B4-BE49-F238E27FC236}">
                <a16:creationId xmlns:a16="http://schemas.microsoft.com/office/drawing/2014/main" id="{0AF1795B-4064-36A6-2176-B87C150FB4F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838199" y="2224088"/>
            <a:ext cx="5146038" cy="4527564"/>
          </a:xfrm>
        </p:spPr>
      </p:pic>
      <p:pic>
        <p:nvPicPr>
          <p:cNvPr id="5" name="Picture 4">
            <a:extLst>
              <a:ext uri="{FF2B5EF4-FFF2-40B4-BE49-F238E27FC236}">
                <a16:creationId xmlns:a16="http://schemas.microsoft.com/office/drawing/2014/main" id="{6CF96352-A638-34AA-D7FB-D05C83498D4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207764" y="2224088"/>
            <a:ext cx="5146036" cy="4527564"/>
          </a:xfrm>
          <a:prstGeom prst="rect">
            <a:avLst/>
          </a:prstGeom>
        </p:spPr>
      </p:pic>
    </p:spTree>
    <p:extLst>
      <p:ext uri="{BB962C8B-B14F-4D97-AF65-F5344CB8AC3E}">
        <p14:creationId xmlns:p14="http://schemas.microsoft.com/office/powerpoint/2010/main" val="36048749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2A4A3-BE1B-5E8A-ADB9-AD9D617B346B}"/>
              </a:ext>
            </a:extLst>
          </p:cNvPr>
          <p:cNvSpPr>
            <a:spLocks noGrp="1"/>
          </p:cNvSpPr>
          <p:nvPr>
            <p:ph type="title"/>
          </p:nvPr>
        </p:nvSpPr>
        <p:spPr/>
        <p:txBody>
          <a:bodyPr>
            <a:normAutofit/>
          </a:bodyPr>
          <a:lstStyle/>
          <a:p>
            <a:r>
              <a:rPr lang="en-US" sz="2000" dirty="0">
                <a:latin typeface="+mn-lt"/>
              </a:rPr>
              <a:t>Here we discovered that the outcome_1 column values can be renamed for better outcome and accuracy.</a:t>
            </a:r>
          </a:p>
        </p:txBody>
      </p:sp>
      <p:pic>
        <p:nvPicPr>
          <p:cNvPr id="4" name="Content Placeholder 4">
            <a:extLst>
              <a:ext uri="{FF2B5EF4-FFF2-40B4-BE49-F238E27FC236}">
                <a16:creationId xmlns:a16="http://schemas.microsoft.com/office/drawing/2014/main" id="{1FD14053-7D88-2472-8346-8A61DFA2919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838200" y="1761808"/>
            <a:ext cx="5146038" cy="4527564"/>
          </a:xfrm>
        </p:spPr>
      </p:pic>
      <p:pic>
        <p:nvPicPr>
          <p:cNvPr id="5" name="Picture 4">
            <a:extLst>
              <a:ext uri="{FF2B5EF4-FFF2-40B4-BE49-F238E27FC236}">
                <a16:creationId xmlns:a16="http://schemas.microsoft.com/office/drawing/2014/main" id="{16AE4027-A27D-7288-F34D-E234FE6613C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207764" y="1761808"/>
            <a:ext cx="5146036" cy="4527564"/>
          </a:xfrm>
          <a:prstGeom prst="rect">
            <a:avLst/>
          </a:prstGeom>
        </p:spPr>
      </p:pic>
    </p:spTree>
    <p:extLst>
      <p:ext uri="{BB962C8B-B14F-4D97-AF65-F5344CB8AC3E}">
        <p14:creationId xmlns:p14="http://schemas.microsoft.com/office/powerpoint/2010/main" val="302984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78E90EB6-2D24-63BB-F310-475AE9F32609}"/>
              </a:ext>
            </a:extLst>
          </p:cNvPr>
          <p:cNvSpPr>
            <a:spLocks noGrp="1"/>
          </p:cNvSpPr>
          <p:nvPr>
            <p:ph idx="1"/>
          </p:nvPr>
        </p:nvSpPr>
        <p:spPr>
          <a:xfrm>
            <a:off x="772160" y="457199"/>
            <a:ext cx="9479280" cy="660401"/>
          </a:xfrm>
        </p:spPr>
        <p:txBody>
          <a:bodyPr>
            <a:normAutofit/>
          </a:bodyPr>
          <a:lstStyle/>
          <a:p>
            <a:pPr marL="0" lvl="0" indent="0">
              <a:buNone/>
            </a:pPr>
            <a:r>
              <a:rPr lang="en-US" sz="3000" b="1" dirty="0">
                <a:solidFill>
                  <a:schemeClr val="accent2"/>
                </a:solidFill>
                <a:latin typeface="+mj-lt"/>
              </a:rPr>
              <a:t>Dashboard Walkthrough:</a:t>
            </a:r>
          </a:p>
        </p:txBody>
      </p:sp>
      <p:pic>
        <p:nvPicPr>
          <p:cNvPr id="6" name="Picture 5">
            <a:extLst>
              <a:ext uri="{FF2B5EF4-FFF2-40B4-BE49-F238E27FC236}">
                <a16:creationId xmlns:a16="http://schemas.microsoft.com/office/drawing/2014/main" id="{2D3E20DA-4E92-A29E-223F-55F481F0E2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2160" y="1117600"/>
            <a:ext cx="10647680" cy="5557520"/>
          </a:xfrm>
          <a:prstGeom prst="rect">
            <a:avLst/>
          </a:prstGeom>
        </p:spPr>
      </p:pic>
    </p:spTree>
    <p:extLst>
      <p:ext uri="{BB962C8B-B14F-4D97-AF65-F5344CB8AC3E}">
        <p14:creationId xmlns:p14="http://schemas.microsoft.com/office/powerpoint/2010/main" val="20408927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E05C8-6255-55B7-54FF-DB2DEE65DD40}"/>
            </a:ext>
          </a:extLst>
        </p:cNvPr>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F910DE9-C10B-CF32-1889-C5D3C7BA3577}"/>
              </a:ext>
            </a:extLst>
          </p:cNvPr>
          <p:cNvSpPr txBox="1">
            <a:spLocks/>
          </p:cNvSpPr>
          <p:nvPr/>
        </p:nvSpPr>
        <p:spPr>
          <a:xfrm>
            <a:off x="838200" y="457199"/>
            <a:ext cx="10515600" cy="57197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000" b="1" dirty="0">
                <a:solidFill>
                  <a:schemeClr val="accent2"/>
                </a:solidFill>
                <a:latin typeface="+mj-lt"/>
              </a:rPr>
              <a:t>Dashboard Walkthrough:</a:t>
            </a:r>
            <a:endParaRPr lang="en-US" sz="3000" dirty="0">
              <a:solidFill>
                <a:srgbClr val="000000"/>
              </a:solidFill>
              <a:latin typeface="+mj-lt"/>
              <a:ea typeface="Canva Sans" panose="020B0604020202020204" charset="0"/>
              <a:cs typeface="Canva Sans" panose="020B0604020202020204" charset="0"/>
            </a:endParaRPr>
          </a:p>
          <a:p>
            <a:pPr marL="0" indent="0">
              <a:buNone/>
            </a:pPr>
            <a:r>
              <a:rPr lang="en-US" sz="2000" dirty="0">
                <a:solidFill>
                  <a:srgbClr val="000000"/>
                </a:solidFill>
                <a:ea typeface="Canva Sans" panose="020B0604020202020204" charset="0"/>
                <a:cs typeface="Canva Sans" panose="020B0604020202020204" charset="0"/>
              </a:rPr>
              <a:t>4-page interactive dashboard built in Looker Studio.</a:t>
            </a:r>
            <a:endParaRPr lang="en-US" sz="2000" dirty="0"/>
          </a:p>
          <a:p>
            <a:r>
              <a:rPr lang="en-US" sz="2600" b="1" dirty="0">
                <a:solidFill>
                  <a:srgbClr val="000000"/>
                </a:solidFill>
              </a:rPr>
              <a:t>The first Page (Applicants Overview):</a:t>
            </a:r>
          </a:p>
          <a:p>
            <a:pPr lvl="1"/>
            <a:r>
              <a:rPr lang="en-US" sz="2000" dirty="0">
                <a:solidFill>
                  <a:srgbClr val="000000"/>
                </a:solidFill>
                <a:ea typeface="Canva Sans" panose="020B0604020202020204" charset="0"/>
                <a:cs typeface="Canva Sans" panose="020B0604020202020204" charset="0"/>
              </a:rPr>
              <a:t>It highlights a low overall connectivity rate (25.7%), with most calls ending as Not Connected.</a:t>
            </a:r>
            <a:endParaRPr lang="en-US" sz="2000" dirty="0"/>
          </a:p>
          <a:p>
            <a:pPr lvl="1"/>
            <a:r>
              <a:rPr lang="en-US" sz="2000" dirty="0">
                <a:solidFill>
                  <a:srgbClr val="000000"/>
                </a:solidFill>
                <a:ea typeface="Canva Sans" panose="020B0604020202020204" charset="0"/>
                <a:cs typeface="Canva Sans" panose="020B0604020202020204" charset="0"/>
              </a:rPr>
              <a:t>Applicant Count is 15,118 </a:t>
            </a:r>
          </a:p>
          <a:p>
            <a:pPr marL="457200" lvl="1" indent="0">
              <a:buNone/>
            </a:pPr>
            <a:endParaRPr lang="en-US" sz="2000" dirty="0">
              <a:solidFill>
                <a:srgbClr val="000000"/>
              </a:solidFill>
            </a:endParaRPr>
          </a:p>
          <a:p>
            <a:r>
              <a:rPr lang="en-US" sz="2600" b="1" dirty="0"/>
              <a:t>The second page ( Countries Performance ):</a:t>
            </a:r>
          </a:p>
          <a:p>
            <a:pPr lvl="1"/>
            <a:r>
              <a:rPr lang="en-US" sz="2000" dirty="0"/>
              <a:t>It displays the highest countries that has applicants</a:t>
            </a:r>
          </a:p>
        </p:txBody>
      </p:sp>
    </p:spTree>
    <p:extLst>
      <p:ext uri="{BB962C8B-B14F-4D97-AF65-F5344CB8AC3E}">
        <p14:creationId xmlns:p14="http://schemas.microsoft.com/office/powerpoint/2010/main" val="36039455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F633B-16F7-D1CE-3923-81C391D59DA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3FAB95B-62AF-745E-04C6-55F1F781F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841" y="567442"/>
            <a:ext cx="10620000" cy="5675744"/>
          </a:xfrm>
          <a:prstGeom prst="rect">
            <a:avLst/>
          </a:prstGeom>
        </p:spPr>
      </p:pic>
    </p:spTree>
    <p:extLst>
      <p:ext uri="{BB962C8B-B14F-4D97-AF65-F5344CB8AC3E}">
        <p14:creationId xmlns:p14="http://schemas.microsoft.com/office/powerpoint/2010/main" val="34183142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2DD75-9A58-A189-D5DA-C51ACC32D4D8}"/>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B9091EEC-2B33-CD50-127C-0C8B16D98DDE}"/>
              </a:ext>
            </a:extLst>
          </p:cNvPr>
          <p:cNvSpPr txBox="1">
            <a:spLocks/>
          </p:cNvSpPr>
          <p:nvPr/>
        </p:nvSpPr>
        <p:spPr>
          <a:xfrm>
            <a:off x="838200" y="457199"/>
            <a:ext cx="10515600" cy="57197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600" b="1" dirty="0"/>
              <a:t>The third page ( Campaigns Performance ):</a:t>
            </a:r>
          </a:p>
          <a:p>
            <a:endParaRPr lang="en-US" sz="2000" dirty="0"/>
          </a:p>
          <a:p>
            <a:endParaRPr lang="en-US" sz="2000" dirty="0"/>
          </a:p>
          <a:p>
            <a:endParaRPr lang="en-US" sz="2000" dirty="0"/>
          </a:p>
          <a:p>
            <a:pPr marL="0" indent="0">
              <a:buNone/>
            </a:pPr>
            <a:endParaRPr lang="en-US" sz="2000" dirty="0"/>
          </a:p>
        </p:txBody>
      </p:sp>
      <p:pic>
        <p:nvPicPr>
          <p:cNvPr id="4" name="Picture 3">
            <a:extLst>
              <a:ext uri="{FF2B5EF4-FFF2-40B4-BE49-F238E27FC236}">
                <a16:creationId xmlns:a16="http://schemas.microsoft.com/office/drawing/2014/main" id="{DDF96912-BA57-B415-1E99-B702B2CB3B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066800"/>
            <a:ext cx="10658007" cy="5614764"/>
          </a:xfrm>
          <a:prstGeom prst="rect">
            <a:avLst/>
          </a:prstGeom>
        </p:spPr>
      </p:pic>
    </p:spTree>
    <p:extLst>
      <p:ext uri="{BB962C8B-B14F-4D97-AF65-F5344CB8AC3E}">
        <p14:creationId xmlns:p14="http://schemas.microsoft.com/office/powerpoint/2010/main" val="28050910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12FA8-8F65-949C-2648-28F4CEDE91D5}"/>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E4D600D-F117-C5DE-A3D5-66AD386C2191}"/>
              </a:ext>
            </a:extLst>
          </p:cNvPr>
          <p:cNvSpPr txBox="1">
            <a:spLocks/>
          </p:cNvSpPr>
          <p:nvPr/>
        </p:nvSpPr>
        <p:spPr>
          <a:xfrm>
            <a:off x="838200" y="457199"/>
            <a:ext cx="10515600" cy="57197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600" b="1" dirty="0"/>
              <a:t>The third page ( Campaigns Performance ):</a:t>
            </a:r>
            <a:endParaRPr lang="en-US" sz="2600" dirty="0"/>
          </a:p>
          <a:p>
            <a:r>
              <a:rPr lang="en-US" sz="2000" dirty="0"/>
              <a:t>Which shows us the highest and lowest countries for campaign number.</a:t>
            </a:r>
          </a:p>
          <a:p>
            <a:r>
              <a:rPr lang="en-US" sz="2000" dirty="0"/>
              <a:t>a pie chart which displays the percentage of post- admission campaigns.</a:t>
            </a:r>
          </a:p>
          <a:p>
            <a:r>
              <a:rPr lang="en-US" sz="2000" dirty="0"/>
              <a:t>The top 2 campaigns are (FA24IP : 1,080 Applicant), and (FA24SIC : 892 Applicant).</a:t>
            </a:r>
          </a:p>
          <a:p>
            <a:endParaRPr lang="en-US" sz="2000" dirty="0"/>
          </a:p>
          <a:p>
            <a:r>
              <a:rPr lang="en-US" sz="2600" b="1" dirty="0"/>
              <a:t>The Fourth and last page ( Agents Performance ):</a:t>
            </a:r>
          </a:p>
          <a:p>
            <a:r>
              <a:rPr lang="en-US" sz="2000" dirty="0"/>
              <a:t>Which shows us that Rudra handled 4,840 calls over 2023, 2024,</a:t>
            </a:r>
          </a:p>
          <a:p>
            <a:r>
              <a:rPr lang="en-US" sz="2000" dirty="0"/>
              <a:t>Twinkle handled 26 calls over 2023, 2024,which is very low.</a:t>
            </a:r>
          </a:p>
          <a:p>
            <a:endParaRPr lang="en-US" sz="2000" dirty="0"/>
          </a:p>
          <a:p>
            <a:r>
              <a:rPr lang="en-US" sz="3000" b="1" dirty="0">
                <a:solidFill>
                  <a:schemeClr val="accent2"/>
                </a:solidFill>
                <a:hlinkClick r:id="rId2">
                  <a:extLst>
                    <a:ext uri="{A12FA001-AC4F-418D-AE19-62706E023703}">
                      <ahyp:hlinkClr xmlns:ahyp="http://schemas.microsoft.com/office/drawing/2018/hyperlinkcolor" val="tx"/>
                    </a:ext>
                  </a:extLst>
                </a:hlinkClick>
              </a:rPr>
              <a:t>Looker Studio Dashboard Link</a:t>
            </a:r>
            <a:endParaRPr lang="en-US" sz="3000" b="1" dirty="0">
              <a:solidFill>
                <a:schemeClr val="accent2"/>
              </a:solidFill>
            </a:endParaRPr>
          </a:p>
          <a:p>
            <a:endParaRPr lang="en-US" sz="2000" dirty="0"/>
          </a:p>
          <a:p>
            <a:pPr lvl="1"/>
            <a:endParaRPr lang="en-US" sz="2000" dirty="0"/>
          </a:p>
        </p:txBody>
      </p:sp>
    </p:spTree>
    <p:extLst>
      <p:ext uri="{BB962C8B-B14F-4D97-AF65-F5344CB8AC3E}">
        <p14:creationId xmlns:p14="http://schemas.microsoft.com/office/powerpoint/2010/main" val="33601176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CDB02-C9A5-49C8-AD47-2AAB88B9A3A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84EA907-A261-5555-36F6-1A7941560B2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90881" y="561407"/>
            <a:ext cx="10620000" cy="5596202"/>
          </a:xfrm>
          <a:prstGeom prst="rect">
            <a:avLst/>
          </a:prstGeom>
        </p:spPr>
      </p:pic>
    </p:spTree>
    <p:extLst>
      <p:ext uri="{BB962C8B-B14F-4D97-AF65-F5344CB8AC3E}">
        <p14:creationId xmlns:p14="http://schemas.microsoft.com/office/powerpoint/2010/main" val="15619946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E8FA27-E5E7-C053-4784-FBCB7BEFD770}"/>
              </a:ext>
            </a:extLst>
          </p:cNvPr>
          <p:cNvSpPr>
            <a:spLocks noGrp="1"/>
          </p:cNvSpPr>
          <p:nvPr>
            <p:ph idx="1"/>
          </p:nvPr>
        </p:nvSpPr>
        <p:spPr>
          <a:xfrm>
            <a:off x="475735" y="1564640"/>
            <a:ext cx="11345562" cy="5058581"/>
          </a:xfrm>
        </p:spPr>
        <p:txBody>
          <a:bodyPr>
            <a:normAutofit/>
          </a:bodyPr>
          <a:lstStyle/>
          <a:p>
            <a:pPr marL="457200" indent="-457200" algn="just">
              <a:buFont typeface="+mj-lt"/>
              <a:buAutoNum type="arabicPeriod"/>
            </a:pPr>
            <a:r>
              <a:rPr lang="en-US" sz="2000" dirty="0"/>
              <a:t>High Data Consistency – All tables have uniform data types and formats, ensuring accurate joins and reliable analysis.</a:t>
            </a:r>
          </a:p>
          <a:p>
            <a:pPr marL="457200" indent="-457200" algn="just">
              <a:buFont typeface="+mj-lt"/>
              <a:buAutoNum type="arabicPeriod"/>
            </a:pPr>
            <a:r>
              <a:rPr lang="en-US" sz="2000" dirty="0"/>
              <a:t>‘Unknown’ Values – 3,606 unknown countries and 58 invalid phone numbers limit geographic and contact-based insights.</a:t>
            </a:r>
          </a:p>
          <a:p>
            <a:pPr marL="457200" indent="-457200" algn="just">
              <a:buFont typeface="+mj-lt"/>
              <a:buAutoNum type="arabicPeriod"/>
            </a:pPr>
            <a:r>
              <a:rPr lang="en-US" sz="2000" dirty="0"/>
              <a:t>Early Call Activity – Calls recorded up to two months before campaigns hint at pre-launch engagement or date-entry errors.</a:t>
            </a:r>
          </a:p>
          <a:p>
            <a:pPr marL="457200" indent="-457200">
              <a:buFont typeface="+mj-lt"/>
              <a:buAutoNum type="arabicPeriod"/>
            </a:pPr>
            <a:r>
              <a:rPr lang="en-US" sz="2000" dirty="0"/>
              <a:t>The highest responses from applicants to the agents’ calls, was (not connected), and the Connectivity Rate is so low (25.71%) which certainly triggers a red flag.</a:t>
            </a:r>
          </a:p>
          <a:p>
            <a:pPr marL="457200" indent="-457200">
              <a:buFont typeface="+mj-lt"/>
              <a:buAutoNum type="arabicPeriod"/>
            </a:pPr>
            <a:r>
              <a:rPr lang="en-US" sz="2000" dirty="0"/>
              <a:t>The highest 5 countries that has applicants in other words calls are India, Ghana, Unknown, Pakistan, and Nigeria, so that tell us how much is our success in these countries, on the other hand, we have a lot of countries that has only 1 or 2 applicants like Irland, Armenia, Grenada.</a:t>
            </a:r>
          </a:p>
          <a:p>
            <a:pPr marL="457200" indent="-457200">
              <a:buFont typeface="+mj-lt"/>
              <a:buAutoNum type="arabicPeriod"/>
            </a:pPr>
            <a:r>
              <a:rPr lang="en-US" sz="2000" dirty="0"/>
              <a:t>Top 5 countries that has applicants whose Outcome Call is  ‘Connected’ are ( India, Unknown, Ghana, Nigeria, and South Africa, on the other hand, there are a lot of countries with 0 applicants.</a:t>
            </a:r>
          </a:p>
          <a:p>
            <a:pPr marL="457200" indent="-457200" algn="just">
              <a:buFont typeface="+mj-lt"/>
              <a:buAutoNum type="arabicPeriod"/>
            </a:pPr>
            <a:endParaRPr lang="en-US" sz="2000" dirty="0"/>
          </a:p>
          <a:p>
            <a:pPr marL="0" indent="0" algn="just">
              <a:buNone/>
            </a:pPr>
            <a:endParaRPr lang="en-US" sz="2000" dirty="0"/>
          </a:p>
          <a:p>
            <a:pPr marL="457200" indent="-457200" algn="just">
              <a:buFont typeface="+mj-lt"/>
              <a:buAutoNum type="arabicPeriod"/>
            </a:pPr>
            <a:endParaRPr lang="en-US" sz="2000" dirty="0"/>
          </a:p>
          <a:p>
            <a:pPr marL="0" indent="0" algn="just">
              <a:buNone/>
            </a:pPr>
            <a:endParaRPr lang="en-US" sz="2000" dirty="0"/>
          </a:p>
        </p:txBody>
      </p:sp>
      <p:sp>
        <p:nvSpPr>
          <p:cNvPr id="2" name="Title 1">
            <a:extLst>
              <a:ext uri="{FF2B5EF4-FFF2-40B4-BE49-F238E27FC236}">
                <a16:creationId xmlns:a16="http://schemas.microsoft.com/office/drawing/2014/main" id="{815EED1A-D5B0-1E94-9F11-38062CA8D1DA}"/>
              </a:ext>
            </a:extLst>
          </p:cNvPr>
          <p:cNvSpPr>
            <a:spLocks noGrp="1"/>
          </p:cNvSpPr>
          <p:nvPr>
            <p:ph type="title"/>
          </p:nvPr>
        </p:nvSpPr>
        <p:spPr>
          <a:xfrm>
            <a:off x="746760" y="234779"/>
            <a:ext cx="10515600" cy="1325563"/>
          </a:xfrm>
        </p:spPr>
        <p:txBody>
          <a:bodyPr>
            <a:normAutofit/>
          </a:bodyPr>
          <a:lstStyle/>
          <a:p>
            <a:pPr algn="ctr"/>
            <a:r>
              <a:rPr lang="en-US" sz="3000" b="1" dirty="0">
                <a:solidFill>
                  <a:schemeClr val="accent2"/>
                </a:solidFill>
              </a:rPr>
              <a:t>Key Findings</a:t>
            </a:r>
          </a:p>
        </p:txBody>
      </p:sp>
      <p:sp>
        <p:nvSpPr>
          <p:cNvPr id="5" name="Freeform 2">
            <a:extLst>
              <a:ext uri="{FF2B5EF4-FFF2-40B4-BE49-F238E27FC236}">
                <a16:creationId xmlns:a16="http://schemas.microsoft.com/office/drawing/2014/main" id="{3BEB2550-ECE5-E0C1-8D67-F31ED33985C7}"/>
              </a:ext>
            </a:extLst>
          </p:cNvPr>
          <p:cNvSpPr/>
          <p:nvPr/>
        </p:nvSpPr>
        <p:spPr>
          <a:xfrm>
            <a:off x="9210040" y="139041"/>
            <a:ext cx="2235200" cy="1290320"/>
          </a:xfrm>
          <a:custGeom>
            <a:avLst/>
            <a:gdLst/>
            <a:ahLst/>
            <a:cxnLst/>
            <a:rect l="l" t="t" r="r" b="b"/>
            <a:pathLst>
              <a:path w="4570160" h="4114800">
                <a:moveTo>
                  <a:pt x="0" y="0"/>
                </a:moveTo>
                <a:lnTo>
                  <a:pt x="4570160" y="0"/>
                </a:lnTo>
                <a:lnTo>
                  <a:pt x="457016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extLst>
      <p:ext uri="{BB962C8B-B14F-4D97-AF65-F5344CB8AC3E}">
        <p14:creationId xmlns:p14="http://schemas.microsoft.com/office/powerpoint/2010/main" val="10634177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B47CE9C-F0AF-2B67-062B-445B0F0F50D4}"/>
              </a:ext>
            </a:extLst>
          </p:cNvPr>
          <p:cNvSpPr>
            <a:spLocks noGrp="1"/>
          </p:cNvSpPr>
          <p:nvPr>
            <p:ph type="title"/>
          </p:nvPr>
        </p:nvSpPr>
        <p:spPr>
          <a:xfrm>
            <a:off x="746760" y="234779"/>
            <a:ext cx="10515600" cy="1325563"/>
          </a:xfrm>
        </p:spPr>
        <p:txBody>
          <a:bodyPr>
            <a:normAutofit/>
          </a:bodyPr>
          <a:lstStyle/>
          <a:p>
            <a:pPr algn="ctr"/>
            <a:r>
              <a:rPr lang="en-US" sz="3000" b="1" dirty="0">
                <a:solidFill>
                  <a:schemeClr val="accent2"/>
                </a:solidFill>
              </a:rPr>
              <a:t>Key Findings</a:t>
            </a:r>
          </a:p>
        </p:txBody>
      </p:sp>
      <p:sp>
        <p:nvSpPr>
          <p:cNvPr id="5" name="Content Placeholder 2">
            <a:extLst>
              <a:ext uri="{FF2B5EF4-FFF2-40B4-BE49-F238E27FC236}">
                <a16:creationId xmlns:a16="http://schemas.microsoft.com/office/drawing/2014/main" id="{A3BE6244-61CD-1324-CEE7-3946342C32F3}"/>
              </a:ext>
            </a:extLst>
          </p:cNvPr>
          <p:cNvSpPr>
            <a:spLocks noGrp="1"/>
          </p:cNvSpPr>
          <p:nvPr>
            <p:ph idx="1"/>
          </p:nvPr>
        </p:nvSpPr>
        <p:spPr>
          <a:xfrm>
            <a:off x="495190" y="1399269"/>
            <a:ext cx="11345562" cy="5058581"/>
          </a:xfrm>
        </p:spPr>
        <p:txBody>
          <a:bodyPr>
            <a:normAutofit/>
          </a:bodyPr>
          <a:lstStyle/>
          <a:p>
            <a:pPr marL="457200" indent="-457200">
              <a:buFont typeface="+mj-lt"/>
              <a:buAutoNum type="arabicPeriod" startAt="9"/>
            </a:pPr>
            <a:endParaRPr lang="en-US" sz="2000" dirty="0"/>
          </a:p>
          <a:p>
            <a:pPr marL="457200" indent="-457200">
              <a:buFont typeface="+mj-lt"/>
              <a:buAutoNum type="arabicPeriod" startAt="7"/>
            </a:pPr>
            <a:r>
              <a:rPr lang="en-US" sz="2000" dirty="0"/>
              <a:t>Rudra handled 4,840 calls over 2023, 2024 and Prajwal 3,762 calls, the highest 2 by far, on the other hand, Twinkle handled 26 calls over 2023, 2024, Namrata 110 calls, and </a:t>
            </a:r>
            <a:r>
              <a:rPr lang="en-US" sz="2000" dirty="0" err="1"/>
              <a:t>Shrutish</a:t>
            </a:r>
            <a:r>
              <a:rPr lang="en-US" sz="2000" dirty="0"/>
              <a:t> 309 which is very low.</a:t>
            </a:r>
          </a:p>
          <a:p>
            <a:pPr marL="457200" indent="-457200">
              <a:buFont typeface="+mj-lt"/>
              <a:buAutoNum type="arabicPeriod" startAt="7"/>
            </a:pPr>
            <a:r>
              <a:rPr lang="en-US" sz="2000" dirty="0"/>
              <a:t>Our time frame for calls is from 05-01-2023 to 20-12-2024, and in that time the highest number of calls were in 2024 (March by 2,671 calls),(June 2,926 calls), (Juley by 1,301 calls), and (November by 1,196 calls), on the other hand the least numbers were in 2023 ( June, August, September, October)               all by (0 calls).</a:t>
            </a:r>
          </a:p>
          <a:p>
            <a:pPr marL="457200" indent="-457200">
              <a:buFont typeface="+mj-lt"/>
              <a:buAutoNum type="arabicPeriod" startAt="7"/>
            </a:pPr>
            <a:r>
              <a:rPr lang="en-US" sz="2000" dirty="0"/>
              <a:t>The top 5 campaigns are (FA24IP : 1,080 Applicant), (FA24SIC : 892 Applicant), (IANF23 : 536 Applicant), (SP25IP : 324 Applicant), and (AANF23 : 126 Applicant), on the other hand bottom 5 campaigns are (FA24DNA : 9 Applicant), (OND23 : 6 Applicant), (CTKANF23 : 3 Applicant), (SP25NIQ : 3 Applicant), and (SP25DN1 : 1 Applicant).</a:t>
            </a:r>
          </a:p>
          <a:p>
            <a:pPr marL="0" indent="0">
              <a:buNone/>
            </a:pPr>
            <a:endParaRPr lang="en-US" sz="2000" dirty="0"/>
          </a:p>
          <a:p>
            <a:pPr marL="457200" indent="-457200">
              <a:buFont typeface="+mj-lt"/>
              <a:buAutoNum type="arabicPeriod" startAt="9"/>
            </a:pPr>
            <a:endParaRPr lang="en-US" sz="2000" dirty="0"/>
          </a:p>
          <a:p>
            <a:pPr marL="457200" indent="-457200">
              <a:buFont typeface="+mj-lt"/>
              <a:buAutoNum type="arabicPeriod" startAt="7"/>
            </a:pPr>
            <a:endParaRPr lang="en-US" sz="2000" dirty="0"/>
          </a:p>
          <a:p>
            <a:pPr marL="0" indent="0">
              <a:buNone/>
            </a:pPr>
            <a:endParaRPr lang="en-US" sz="2000" dirty="0"/>
          </a:p>
          <a:p>
            <a:pPr marL="0" indent="0">
              <a:buNone/>
            </a:pPr>
            <a:endParaRPr lang="en-US" sz="2000" dirty="0"/>
          </a:p>
          <a:p>
            <a:pPr marL="0" indent="0">
              <a:buNone/>
            </a:pPr>
            <a:endParaRPr lang="en-US" sz="2000" dirty="0"/>
          </a:p>
          <a:p>
            <a:pPr marL="457200" indent="-457200" algn="just">
              <a:buFont typeface="+mj-lt"/>
              <a:buAutoNum type="arabicPeriod"/>
            </a:pPr>
            <a:endParaRPr lang="en-US" sz="2000" dirty="0"/>
          </a:p>
          <a:p>
            <a:pPr marL="0" indent="0" algn="just">
              <a:buNone/>
            </a:pPr>
            <a:endParaRPr lang="en-US" sz="2000" dirty="0"/>
          </a:p>
        </p:txBody>
      </p:sp>
      <p:sp>
        <p:nvSpPr>
          <p:cNvPr id="6" name="Content Placeholder 2">
            <a:extLst>
              <a:ext uri="{FF2B5EF4-FFF2-40B4-BE49-F238E27FC236}">
                <a16:creationId xmlns:a16="http://schemas.microsoft.com/office/drawing/2014/main" id="{98488285-41FA-5564-C15C-6B7BF408FBA8}"/>
              </a:ext>
            </a:extLst>
          </p:cNvPr>
          <p:cNvSpPr txBox="1">
            <a:spLocks/>
          </p:cNvSpPr>
          <p:nvPr/>
        </p:nvSpPr>
        <p:spPr>
          <a:xfrm>
            <a:off x="628135" y="1717040"/>
            <a:ext cx="11345562" cy="50585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sz="2000" dirty="0"/>
          </a:p>
        </p:txBody>
      </p:sp>
    </p:spTree>
    <p:extLst>
      <p:ext uri="{BB962C8B-B14F-4D97-AF65-F5344CB8AC3E}">
        <p14:creationId xmlns:p14="http://schemas.microsoft.com/office/powerpoint/2010/main" val="39686400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80A87-5F58-9B0A-CC8A-9EB50BD44DA1}"/>
              </a:ext>
            </a:extLst>
          </p:cNvPr>
          <p:cNvSpPr>
            <a:spLocks noGrp="1"/>
          </p:cNvSpPr>
          <p:nvPr>
            <p:ph type="title"/>
          </p:nvPr>
        </p:nvSpPr>
        <p:spPr>
          <a:xfrm>
            <a:off x="838199" y="405766"/>
            <a:ext cx="10515600" cy="741680"/>
          </a:xfrm>
        </p:spPr>
        <p:txBody>
          <a:bodyPr>
            <a:noAutofit/>
          </a:bodyPr>
          <a:lstStyle/>
          <a:p>
            <a:pPr algn="ctr"/>
            <a:r>
              <a:rPr lang="en-US" sz="3000" b="1" dirty="0">
                <a:solidFill>
                  <a:schemeClr val="accent2"/>
                </a:solidFill>
              </a:rPr>
              <a:t>Recommendations</a:t>
            </a:r>
            <a:endParaRPr lang="en-US" sz="3000" dirty="0">
              <a:solidFill>
                <a:schemeClr val="accent2"/>
              </a:solidFill>
            </a:endParaRPr>
          </a:p>
        </p:txBody>
      </p:sp>
      <p:sp>
        <p:nvSpPr>
          <p:cNvPr id="3" name="Content Placeholder 2">
            <a:extLst>
              <a:ext uri="{FF2B5EF4-FFF2-40B4-BE49-F238E27FC236}">
                <a16:creationId xmlns:a16="http://schemas.microsoft.com/office/drawing/2014/main" id="{8E899C4E-B0C2-965C-5AFE-A8ACD0A95C34}"/>
              </a:ext>
            </a:extLst>
          </p:cNvPr>
          <p:cNvSpPr>
            <a:spLocks noGrp="1"/>
          </p:cNvSpPr>
          <p:nvPr>
            <p:ph idx="1"/>
          </p:nvPr>
        </p:nvSpPr>
        <p:spPr>
          <a:xfrm>
            <a:off x="370114" y="1327000"/>
            <a:ext cx="11451771" cy="5287794"/>
          </a:xfrm>
        </p:spPr>
        <p:txBody>
          <a:bodyPr>
            <a:noAutofit/>
          </a:bodyPr>
          <a:lstStyle/>
          <a:p>
            <a:pPr marL="0" indent="0">
              <a:buNone/>
            </a:pPr>
            <a:r>
              <a:rPr lang="en-US" sz="2000" dirty="0"/>
              <a:t>To address the findings and strengthen future operations, we propose:</a:t>
            </a:r>
          </a:p>
          <a:p>
            <a:pPr marL="457200" indent="-457200">
              <a:buFont typeface="+mj-lt"/>
              <a:buAutoNum type="arabicPeriod"/>
            </a:pPr>
            <a:r>
              <a:rPr lang="en-US" sz="2600" b="1" dirty="0"/>
              <a:t>📊 Data Quality &amp; System Hygiene</a:t>
            </a:r>
          </a:p>
          <a:p>
            <a:r>
              <a:rPr lang="en-US" sz="2000" b="1" dirty="0"/>
              <a:t>Data Enrichment Efforts</a:t>
            </a:r>
            <a:endParaRPr lang="en-US" sz="2000" dirty="0"/>
          </a:p>
          <a:p>
            <a:pPr lvl="1"/>
            <a:r>
              <a:rPr lang="en-US" sz="2000" dirty="0"/>
              <a:t>Collaborate with the client/company to retrieve missing country and phone number details where possible.</a:t>
            </a:r>
          </a:p>
          <a:p>
            <a:r>
              <a:rPr lang="en-US" sz="2000" b="1" dirty="0"/>
              <a:t>Investigate Pre-Launch Calls</a:t>
            </a:r>
            <a:endParaRPr lang="en-US" sz="2000" dirty="0"/>
          </a:p>
          <a:p>
            <a:pPr lvl="1"/>
            <a:r>
              <a:rPr lang="en-US" sz="2000" dirty="0"/>
              <a:t>Conduct a deeper audit to confirm whether early call records reflect actual outreach or are errors.</a:t>
            </a:r>
          </a:p>
          <a:p>
            <a:r>
              <a:rPr lang="en-US" sz="2000" b="1" dirty="0"/>
              <a:t>Standardized Data Entry Protocols</a:t>
            </a:r>
            <a:endParaRPr lang="en-US" sz="2000" dirty="0"/>
          </a:p>
          <a:p>
            <a:pPr lvl="1"/>
            <a:r>
              <a:rPr lang="en-US" sz="2000" dirty="0"/>
              <a:t>Create and enforce a strict data-entry procedure to prevent future “Unknown” values and inconsistent date entries.</a:t>
            </a:r>
          </a:p>
          <a:p>
            <a:r>
              <a:rPr lang="en-US" sz="2000" b="1" dirty="0"/>
              <a:t>Regular Data Audits</a:t>
            </a:r>
            <a:endParaRPr lang="en-US" sz="2000" dirty="0"/>
          </a:p>
          <a:p>
            <a:pPr lvl="1"/>
            <a:r>
              <a:rPr lang="en-US" sz="2000" dirty="0"/>
              <a:t>Schedule routine consistency checks to ensure ongoing data quality and early detection of anomalies.</a:t>
            </a:r>
          </a:p>
        </p:txBody>
      </p:sp>
      <p:sp>
        <p:nvSpPr>
          <p:cNvPr id="4" name="Freeform 2">
            <a:extLst>
              <a:ext uri="{FF2B5EF4-FFF2-40B4-BE49-F238E27FC236}">
                <a16:creationId xmlns:a16="http://schemas.microsoft.com/office/drawing/2014/main" id="{C954E5BC-0AFF-9327-5DE0-12A5FEC37DF5}"/>
              </a:ext>
            </a:extLst>
          </p:cNvPr>
          <p:cNvSpPr/>
          <p:nvPr/>
        </p:nvSpPr>
        <p:spPr>
          <a:xfrm>
            <a:off x="9226004" y="313692"/>
            <a:ext cx="2127795" cy="1290321"/>
          </a:xfrm>
          <a:custGeom>
            <a:avLst/>
            <a:gdLst/>
            <a:ahLst/>
            <a:cxnLst/>
            <a:rect l="l" t="t" r="r" b="b"/>
            <a:pathLst>
              <a:path w="3800579" h="4114800">
                <a:moveTo>
                  <a:pt x="0" y="0"/>
                </a:moveTo>
                <a:lnTo>
                  <a:pt x="3800579" y="0"/>
                </a:lnTo>
                <a:lnTo>
                  <a:pt x="380057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Tree>
    <p:extLst>
      <p:ext uri="{BB962C8B-B14F-4D97-AF65-F5344CB8AC3E}">
        <p14:creationId xmlns:p14="http://schemas.microsoft.com/office/powerpoint/2010/main" val="28221241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9E6A59-EE94-723D-6CD9-6499BA1738DD}"/>
              </a:ext>
            </a:extLst>
          </p:cNvPr>
          <p:cNvSpPr>
            <a:spLocks noGrp="1"/>
          </p:cNvSpPr>
          <p:nvPr>
            <p:ph idx="1"/>
          </p:nvPr>
        </p:nvSpPr>
        <p:spPr>
          <a:xfrm>
            <a:off x="436880" y="396240"/>
            <a:ext cx="11308080" cy="6069873"/>
          </a:xfrm>
        </p:spPr>
        <p:txBody>
          <a:bodyPr>
            <a:noAutofit/>
          </a:bodyPr>
          <a:lstStyle/>
          <a:p>
            <a:pPr marL="457200" indent="-457200">
              <a:buFont typeface="+mj-lt"/>
              <a:buAutoNum type="arabicPeriod" startAt="2"/>
            </a:pPr>
            <a:r>
              <a:rPr lang="en-US" sz="2600" b="1" dirty="0"/>
              <a:t>📞 Improve Applicant Connectivity</a:t>
            </a:r>
          </a:p>
          <a:p>
            <a:r>
              <a:rPr lang="en-US" sz="2000" b="1" dirty="0"/>
              <a:t>Problem:</a:t>
            </a:r>
          </a:p>
          <a:p>
            <a:pPr lvl="1"/>
            <a:r>
              <a:rPr lang="en-US" sz="2000" dirty="0"/>
              <a:t>Connectivity rate is critically low (25.71%).</a:t>
            </a:r>
          </a:p>
          <a:p>
            <a:r>
              <a:rPr lang="en-US" sz="2000" b="1" dirty="0"/>
              <a:t>Recommendations:</a:t>
            </a:r>
          </a:p>
          <a:p>
            <a:pPr lvl="1"/>
            <a:r>
              <a:rPr lang="en-US" sz="2000" b="1" dirty="0"/>
              <a:t>Agent Training &amp; Scripts</a:t>
            </a:r>
            <a:r>
              <a:rPr lang="en-US" sz="2000" dirty="0"/>
              <a:t>: Revise outreach scripts and provide targeted training to improve engagement.</a:t>
            </a:r>
          </a:p>
          <a:p>
            <a:pPr lvl="1"/>
            <a:r>
              <a:rPr lang="en-US" sz="2000" b="1" dirty="0"/>
              <a:t>Call at the right time:</a:t>
            </a:r>
            <a:r>
              <a:rPr lang="en-US" sz="2000" dirty="0"/>
              <a:t> Align agent schedules with applicants’ local time zones.</a:t>
            </a:r>
          </a:p>
          <a:p>
            <a:pPr lvl="1"/>
            <a:r>
              <a:rPr lang="en-US" sz="2000" b="1" dirty="0"/>
              <a:t>Channel Diversification</a:t>
            </a:r>
            <a:r>
              <a:rPr lang="en-US" sz="2000" dirty="0"/>
              <a:t>: Introduce WhatsApp, email, or SMS outreach to supplement calls.</a:t>
            </a:r>
          </a:p>
          <a:p>
            <a:pPr lvl="1"/>
            <a:r>
              <a:rPr lang="en-US" sz="2000" b="1" dirty="0"/>
              <a:t>Why it matters:</a:t>
            </a:r>
            <a:r>
              <a:rPr lang="en-US" sz="2000" dirty="0"/>
              <a:t> Even a 5–10% lift in connectivity means thousands more engaged applicants.</a:t>
            </a:r>
          </a:p>
          <a:p>
            <a:pPr marL="457200" lvl="1" indent="0">
              <a:buNone/>
            </a:pPr>
            <a:endParaRPr lang="en-US" sz="2000" dirty="0"/>
          </a:p>
          <a:p>
            <a:pPr marL="457200" indent="-457200">
              <a:buFont typeface="+mj-lt"/>
              <a:buAutoNum type="arabicPeriod" startAt="3"/>
            </a:pPr>
            <a:r>
              <a:rPr lang="en-US" sz="2600" b="1" dirty="0"/>
              <a:t>🌍 Country Strategy </a:t>
            </a:r>
          </a:p>
          <a:p>
            <a:r>
              <a:rPr lang="en-US" sz="2000" b="1" dirty="0"/>
              <a:t>Focus on top markets:</a:t>
            </a:r>
            <a:r>
              <a:rPr lang="en-US" sz="2000" dirty="0"/>
              <a:t> Double down on India, Ghana, Pakistan, Nigeria (optimize campaigns and staffing here).</a:t>
            </a:r>
          </a:p>
          <a:p>
            <a:r>
              <a:rPr lang="en-US" sz="2000" dirty="0"/>
              <a:t>create country-specific playbooks (local language scripts, ideal call windows, SMS content).</a:t>
            </a:r>
          </a:p>
          <a:p>
            <a:r>
              <a:rPr lang="en-US" sz="2000" b="1" dirty="0"/>
              <a:t>Competitor benchmarking:</a:t>
            </a:r>
            <a:r>
              <a:rPr lang="en-US" sz="2000" dirty="0"/>
              <a:t> In low‑volume countries, analyze competitor companies’ marketing (channels, timing, offers) to identify gaps.</a:t>
            </a:r>
          </a:p>
          <a:p>
            <a:pPr marL="0" indent="0">
              <a:buNone/>
            </a:pPr>
            <a:endParaRPr lang="en-US" sz="2000" b="1" dirty="0"/>
          </a:p>
        </p:txBody>
      </p:sp>
    </p:spTree>
    <p:extLst>
      <p:ext uri="{BB962C8B-B14F-4D97-AF65-F5344CB8AC3E}">
        <p14:creationId xmlns:p14="http://schemas.microsoft.com/office/powerpoint/2010/main" val="33162457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D642718A-BA76-4977-2043-FA230BDD04E3}"/>
              </a:ext>
            </a:extLst>
          </p:cNvPr>
          <p:cNvSpPr>
            <a:spLocks noGrp="1"/>
          </p:cNvSpPr>
          <p:nvPr>
            <p:ph idx="1"/>
          </p:nvPr>
        </p:nvSpPr>
        <p:spPr>
          <a:xfrm>
            <a:off x="436880" y="396240"/>
            <a:ext cx="11308080" cy="6069873"/>
          </a:xfrm>
        </p:spPr>
        <p:txBody>
          <a:bodyPr>
            <a:noAutofit/>
          </a:bodyPr>
          <a:lstStyle/>
          <a:p>
            <a:pPr marL="457200" indent="-457200">
              <a:buFont typeface="+mj-lt"/>
              <a:buAutoNum type="arabicPeriod" startAt="4"/>
            </a:pPr>
            <a:r>
              <a:rPr lang="en-US" sz="2600" b="1" dirty="0"/>
              <a:t>👩‍💼 Agent Performance </a:t>
            </a:r>
          </a:p>
          <a:p>
            <a:r>
              <a:rPr lang="en-US" sz="2000" b="1" dirty="0"/>
              <a:t>Immediate actions:</a:t>
            </a:r>
            <a:endParaRPr lang="en-US" sz="2000" dirty="0"/>
          </a:p>
          <a:p>
            <a:pPr lvl="1"/>
            <a:r>
              <a:rPr lang="en-US" sz="2000" dirty="0"/>
              <a:t>Rebalance workloads: reduce spare/underused agents; reassign top performers for high-value campaigns.</a:t>
            </a:r>
          </a:p>
          <a:p>
            <a:pPr lvl="1"/>
            <a:r>
              <a:rPr lang="en-US" sz="2000" b="1" dirty="0"/>
              <a:t>Reward quality, not just volume:</a:t>
            </a:r>
            <a:r>
              <a:rPr lang="en-US" sz="2000" dirty="0"/>
              <a:t> Incentivize connected calls that lead to deposits/enrollments.</a:t>
            </a:r>
          </a:p>
          <a:p>
            <a:r>
              <a:rPr lang="en-US" sz="2000" b="1" dirty="0"/>
              <a:t>Performance management:</a:t>
            </a:r>
          </a:p>
          <a:p>
            <a:pPr lvl="1"/>
            <a:r>
              <a:rPr lang="en-US" sz="2000" dirty="0"/>
              <a:t>For top performers (e.g., Rudra): implement shadow sessions to extract best practices, share their techniques with the team.</a:t>
            </a:r>
          </a:p>
          <a:p>
            <a:pPr lvl="1"/>
            <a:r>
              <a:rPr lang="en-US" sz="2000" dirty="0"/>
              <a:t>Reporting</a:t>
            </a:r>
            <a:r>
              <a:rPr lang="en-US" dirty="0"/>
              <a:t>:</a:t>
            </a:r>
          </a:p>
          <a:p>
            <a:pPr lvl="2"/>
            <a:r>
              <a:rPr lang="en-US" dirty="0"/>
              <a:t>Weekly agent dashboard: calls, connected rate, avg talk time for monitoring.</a:t>
            </a:r>
          </a:p>
          <a:p>
            <a:pPr lvl="2"/>
            <a:endParaRPr lang="en-US" dirty="0"/>
          </a:p>
          <a:p>
            <a:pPr marL="514350" indent="-514350">
              <a:buFont typeface="+mj-lt"/>
              <a:buAutoNum type="arabicPeriod" startAt="5"/>
            </a:pPr>
            <a:r>
              <a:rPr lang="en-US" sz="2600" b="1" dirty="0"/>
              <a:t>📅 Campaign-level recommendations</a:t>
            </a:r>
          </a:p>
          <a:p>
            <a:r>
              <a:rPr lang="en-US" sz="2000" b="1" dirty="0"/>
              <a:t>Prioritize high-performing campaigns for scale:</a:t>
            </a:r>
          </a:p>
          <a:p>
            <a:pPr lvl="1"/>
            <a:r>
              <a:rPr lang="en-US" sz="2000" dirty="0"/>
              <a:t>Expand outreach budget and channel mix for FA24IP, FA24SIC, IANF23, SP25IP (top 5 by applicants).</a:t>
            </a:r>
          </a:p>
          <a:p>
            <a:pPr lvl="1"/>
            <a:r>
              <a:rPr lang="en-US" sz="2000" dirty="0"/>
              <a:t>Replicate messaging/targeting for similar geographies/demographics where these campaigns succeeded.</a:t>
            </a:r>
            <a:endParaRPr lang="en-US" dirty="0"/>
          </a:p>
          <a:p>
            <a:pPr marL="0" indent="0">
              <a:buNone/>
            </a:pPr>
            <a:endParaRPr lang="en-US" sz="2000" dirty="0"/>
          </a:p>
        </p:txBody>
      </p:sp>
    </p:spTree>
    <p:extLst>
      <p:ext uri="{BB962C8B-B14F-4D97-AF65-F5344CB8AC3E}">
        <p14:creationId xmlns:p14="http://schemas.microsoft.com/office/powerpoint/2010/main" val="27164460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0180381-6B06-4490-2708-71588B52E986}"/>
              </a:ext>
            </a:extLst>
          </p:cNvPr>
          <p:cNvSpPr>
            <a:spLocks noGrp="1"/>
          </p:cNvSpPr>
          <p:nvPr>
            <p:ph idx="1"/>
          </p:nvPr>
        </p:nvSpPr>
        <p:spPr>
          <a:xfrm>
            <a:off x="436880" y="396240"/>
            <a:ext cx="11308080" cy="6069873"/>
          </a:xfrm>
        </p:spPr>
        <p:txBody>
          <a:bodyPr>
            <a:noAutofit/>
          </a:bodyPr>
          <a:lstStyle/>
          <a:p>
            <a:pPr marL="514350" indent="-514350">
              <a:buFont typeface="+mj-lt"/>
              <a:buAutoNum type="arabicPeriod" startAt="5"/>
            </a:pPr>
            <a:r>
              <a:rPr lang="en-US" sz="2600" b="1" dirty="0"/>
              <a:t>📅 Campaign-level recommendations</a:t>
            </a:r>
          </a:p>
          <a:p>
            <a:r>
              <a:rPr lang="en-US" sz="2000" b="1" dirty="0"/>
              <a:t>Rescue low-performing campaigns:</a:t>
            </a:r>
          </a:p>
          <a:p>
            <a:pPr lvl="1"/>
            <a:r>
              <a:rPr lang="en-US" sz="2000" dirty="0"/>
              <a:t>Audit offer, and target lists for FA24DNA, OND23, CTKANF23, SP25NIQ, SP25DN1; run small experiments (re-targeting, different call scripts, localized creatives), or sunset them.</a:t>
            </a:r>
          </a:p>
          <a:p>
            <a:r>
              <a:rPr lang="en-US" sz="2000" b="1" dirty="0"/>
              <a:t>ROI tracking:</a:t>
            </a:r>
            <a:r>
              <a:rPr lang="en-US" sz="2000" dirty="0"/>
              <a:t> Add a simple cost‑per‑connected‑applicant metric to compare campaigns fairly, if spend data available.</a:t>
            </a:r>
          </a:p>
          <a:p>
            <a:pPr marL="0" indent="0">
              <a:buNone/>
            </a:pPr>
            <a:endParaRPr lang="en-US" sz="2000" dirty="0"/>
          </a:p>
          <a:p>
            <a:pPr marL="457200" indent="-457200">
              <a:buFont typeface="+mj-lt"/>
              <a:buAutoNum type="arabicPeriod" startAt="6"/>
            </a:pPr>
            <a:r>
              <a:rPr lang="en-US" sz="2600" b="1" dirty="0"/>
              <a:t>⏱ Timing &amp; Seasonality</a:t>
            </a:r>
          </a:p>
          <a:p>
            <a:r>
              <a:rPr lang="en-US" sz="2000" b="1" dirty="0"/>
              <a:t>Peak staffing:</a:t>
            </a:r>
            <a:r>
              <a:rPr lang="en-US" sz="2000" dirty="0"/>
              <a:t> Staff up in March, June, July, and November (historically highest call months).</a:t>
            </a:r>
          </a:p>
          <a:p>
            <a:r>
              <a:rPr lang="en-US" sz="2000" b="1" dirty="0"/>
              <a:t>Zero‑call months:</a:t>
            </a:r>
            <a:r>
              <a:rPr lang="en-US" sz="2000" dirty="0"/>
              <a:t> Investigate why June–Oct 2023 had no calls; set alerts to prevent future gaps.</a:t>
            </a:r>
          </a:p>
          <a:p>
            <a:r>
              <a:rPr lang="en-US" sz="2000" b="1" dirty="0"/>
              <a:t>Seasonal campaigns: </a:t>
            </a:r>
            <a:r>
              <a:rPr lang="en-US" sz="2000" dirty="0"/>
              <a:t>Align campaign launches with academic calendars (application deadlines, exam results, visa cycles).</a:t>
            </a:r>
          </a:p>
          <a:p>
            <a:r>
              <a:rPr lang="en-US" sz="2000" b="1" dirty="0"/>
              <a:t>A/B test : </a:t>
            </a:r>
            <a:r>
              <a:rPr lang="en-US" sz="2000" dirty="0"/>
              <a:t>Call-time slots (morning vs evening local time) for top 5 countries to find optimal windows.</a:t>
            </a:r>
          </a:p>
          <a:p>
            <a:pPr marL="0" indent="0">
              <a:buNone/>
            </a:pPr>
            <a:endParaRPr lang="en-US" sz="2000" dirty="0"/>
          </a:p>
        </p:txBody>
      </p:sp>
    </p:spTree>
    <p:extLst>
      <p:ext uri="{BB962C8B-B14F-4D97-AF65-F5344CB8AC3E}">
        <p14:creationId xmlns:p14="http://schemas.microsoft.com/office/powerpoint/2010/main" val="20495863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D10EBA36-441E-AE9C-2191-105371F956CB}"/>
              </a:ext>
            </a:extLst>
          </p:cNvPr>
          <p:cNvSpPr>
            <a:spLocks noGrp="1"/>
          </p:cNvSpPr>
          <p:nvPr>
            <p:ph idx="1"/>
          </p:nvPr>
        </p:nvSpPr>
        <p:spPr>
          <a:xfrm>
            <a:off x="436880" y="396240"/>
            <a:ext cx="11308080" cy="6069873"/>
          </a:xfrm>
        </p:spPr>
        <p:txBody>
          <a:bodyPr>
            <a:noAutofit/>
          </a:bodyPr>
          <a:lstStyle/>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lgn="ctr">
              <a:buNone/>
            </a:pPr>
            <a:r>
              <a:rPr lang="en-US" sz="5400" b="1" dirty="0">
                <a:solidFill>
                  <a:schemeClr val="accent2"/>
                </a:solidFill>
                <a:latin typeface="+mj-lt"/>
              </a:rPr>
              <a:t>The End</a:t>
            </a:r>
          </a:p>
          <a:p>
            <a:pPr marL="0" indent="0" algn="ctr">
              <a:buNone/>
            </a:pPr>
            <a:r>
              <a:rPr lang="en-US" sz="5400" b="1" dirty="0">
                <a:solidFill>
                  <a:schemeClr val="accent2"/>
                </a:solidFill>
                <a:latin typeface="+mj-lt"/>
              </a:rPr>
              <a:t>Questions?</a:t>
            </a:r>
            <a:endParaRPr lang="en-US" sz="3200" b="1" dirty="0">
              <a:solidFill>
                <a:schemeClr val="accent2"/>
              </a:solidFill>
              <a:latin typeface="+mj-lt"/>
            </a:endParaRPr>
          </a:p>
        </p:txBody>
      </p:sp>
    </p:spTree>
    <p:extLst>
      <p:ext uri="{BB962C8B-B14F-4D97-AF65-F5344CB8AC3E}">
        <p14:creationId xmlns:p14="http://schemas.microsoft.com/office/powerpoint/2010/main" val="28433067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3661</TotalTime>
  <Words>1722</Words>
  <Application>Microsoft Office PowerPoint</Application>
  <PresentationFormat>Widescreen</PresentationFormat>
  <Paragraphs>201</Paragraphs>
  <Slides>32</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32</vt:i4>
      </vt:variant>
    </vt:vector>
  </HeadingPairs>
  <TitlesOfParts>
    <vt:vector size="40" baseType="lpstr">
      <vt:lpstr>Arial</vt:lpstr>
      <vt:lpstr>Bricolage Grotesque</vt:lpstr>
      <vt:lpstr>Bricolage Grotesque Bold</vt:lpstr>
      <vt:lpstr>Calibri</vt:lpstr>
      <vt:lpstr>Calibri Light</vt:lpstr>
      <vt:lpstr>Canva Sans</vt:lpstr>
      <vt:lpstr>Office Theme</vt:lpstr>
      <vt:lpstr>1_Office Theme</vt:lpstr>
      <vt:lpstr>PowerPoint Presentation</vt:lpstr>
      <vt:lpstr>PowerPoint Presentation</vt:lpstr>
      <vt:lpstr>Project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Consistency and Validation:  Here we have 2 queries, verifying that data types and formats (e.g., dates, numeric fields) are consistent across all tables.</vt:lpstr>
      <vt:lpstr>Data Consistency and Validation:  Here we have 2 select queries, ensuring that key identifiers like Applicant IDs or Campaign IDs match across related tables (Outraech_Data), all good ( 0 Rows ).</vt:lpstr>
      <vt:lpstr>Then we have 2 queries to ensure that the Applicant count and Campaign count in the database match the dashboard, with no discrepancies.</vt:lpstr>
      <vt:lpstr>Here we have 2 select queries to ensure there are no duplicate records. Result: ( 0 rows ) ( No Duplicates ). </vt:lpstr>
      <vt:lpstr>Here we have 2 queries to search more extensively for invalid data.</vt:lpstr>
      <vt:lpstr>Here we have 2 queries, that shows there are calls attached to campaigns that hasn’t started yet!</vt:lpstr>
      <vt:lpstr>Here we discovered that the outcome_1 column values can be renamed for better outcome and accuracy.</vt:lpstr>
      <vt:lpstr>PowerPoint Presentation</vt:lpstr>
      <vt:lpstr>PowerPoint Presentation</vt:lpstr>
      <vt:lpstr>PowerPoint Presentation</vt:lpstr>
      <vt:lpstr>PowerPoint Presentation</vt:lpstr>
      <vt:lpstr>PowerPoint Presentation</vt:lpstr>
      <vt:lpstr>PowerPoint Presentation</vt:lpstr>
      <vt:lpstr>Key Findings</vt:lpstr>
      <vt:lpstr>Key Findings</vt:lpstr>
      <vt:lpstr>Recommendations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Visualization Associate Early Internship Presentation (WEEK 3 Deliverables) From: Team 24 To Our Sponsor: Excelerate Team Date Of Submission: 22-Sep-2025</dc:title>
  <dc:creator>Ahmed Atwa</dc:creator>
  <cp:lastModifiedBy>Ahmed Atwa</cp:lastModifiedBy>
  <cp:revision>30</cp:revision>
  <dcterms:created xsi:type="dcterms:W3CDTF">2025-09-20T18:19:55Z</dcterms:created>
  <dcterms:modified xsi:type="dcterms:W3CDTF">2025-10-20T18:52:45Z</dcterms:modified>
</cp:coreProperties>
</file>